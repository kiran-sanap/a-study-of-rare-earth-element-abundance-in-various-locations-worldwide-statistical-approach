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1"/>
  </p:sldMasterIdLst>
  <p:notesMasterIdLst>
    <p:notesMasterId r:id="rId30"/>
  </p:notesMasterIdLst>
  <p:sldIdLst>
    <p:sldId id="275" r:id="rId2"/>
    <p:sldId id="276" r:id="rId3"/>
    <p:sldId id="278" r:id="rId4"/>
    <p:sldId id="285" r:id="rId5"/>
    <p:sldId id="279" r:id="rId6"/>
    <p:sldId id="256" r:id="rId7"/>
    <p:sldId id="261" r:id="rId8"/>
    <p:sldId id="262" r:id="rId9"/>
    <p:sldId id="257" r:id="rId10"/>
    <p:sldId id="259" r:id="rId11"/>
    <p:sldId id="260" r:id="rId12"/>
    <p:sldId id="270" r:id="rId13"/>
    <p:sldId id="271" r:id="rId14"/>
    <p:sldId id="272" r:id="rId15"/>
    <p:sldId id="273" r:id="rId16"/>
    <p:sldId id="263" r:id="rId17"/>
    <p:sldId id="264" r:id="rId18"/>
    <p:sldId id="265" r:id="rId19"/>
    <p:sldId id="281" r:id="rId20"/>
    <p:sldId id="282" r:id="rId21"/>
    <p:sldId id="283" r:id="rId22"/>
    <p:sldId id="266" r:id="rId23"/>
    <p:sldId id="267" r:id="rId24"/>
    <p:sldId id="268" r:id="rId25"/>
    <p:sldId id="269" r:id="rId26"/>
    <p:sldId id="280" r:id="rId27"/>
    <p:sldId id="274" r:id="rId28"/>
    <p:sldId id="28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6B209E-F2D2-49B1-A98C-DF11655843EE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359A8D-1B23-4EF2-8942-A0FCF894AD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0411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F62CA-CAE3-AC9F-0A0F-1DCB9FC121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DEB16B-99C0-84B5-708F-E9A3B218E1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F7D76-8A48-AF77-A456-876338876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5F289-3372-431F-B0CC-3B04EDDC8FD1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A7422-E7F5-FE2A-AB8E-052D68496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07EC6-A44D-5F84-0C1E-134366C31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AF281-2398-4B19-9292-72BE51490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983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5EAEF-76F9-9286-0CA7-1FAB48D2E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0417A-2FFA-F815-FD02-92254A6A3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9FE0C-6EC5-F0BB-27CC-7A830F3B0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5F289-3372-431F-B0CC-3B04EDDC8FD1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C7CF2-D01D-8305-43C5-BC1F95E94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38215-748E-F5F3-684E-D1D5D0FB3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AF281-2398-4B19-9292-72BE51490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195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F6142-DFBC-D112-7B9E-0DFE92252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A9108-17C7-19B8-F259-D418A1D29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4E409-F49B-CD7E-02EF-95662A9D2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5F289-3372-431F-B0CC-3B04EDDC8FD1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B5EAD-1DD5-0BE0-68F9-46902DCF5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A418C-DF19-BBC5-9E49-2574D752E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AF281-2398-4B19-9292-72BE51490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0010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77B87-0AB3-F274-F485-4D1601FBC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CCEFF-070F-D651-8B46-4B82046D00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0F719-681C-593A-3B77-8130DBC3E2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9A4DDD-BA4A-333B-DA10-6C6D9450F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5F289-3372-431F-B0CC-3B04EDDC8FD1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9DE64E-8F1A-02E9-3EFA-DED029A0C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D5C172-4F87-5A7D-5B2D-53F6C541C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AF281-2398-4B19-9292-72BE51490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3009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6086D-1BD5-2FAD-FF18-E070F4F99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FD0E3-1365-3FF4-7B49-B86480B37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65ACAA-F962-A030-5163-8295BD63D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7AE1E3-8D73-9326-9FD1-256534445E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7724EE-E7CE-8A60-1E59-290D04AC00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7C1A7C-61E5-BD66-2E61-7A9C67F91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5F289-3372-431F-B0CC-3B04EDDC8FD1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83015C-98E8-877D-3ED1-4A5030E33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2F5175-D5F8-91B0-61A3-7654373BA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AF281-2398-4B19-9292-72BE51490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7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22448-E7ED-21BD-BD21-9FABB2EB7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EE2655-B107-8FC6-1631-6683DDDE2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5F289-3372-431F-B0CC-3B04EDDC8FD1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806B3E-5867-3E9F-7DDF-500BBCCF3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685F21-6624-B46F-E0F0-FC4FE2730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AF281-2398-4B19-9292-72BE51490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3925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AAA148-9CA6-B75E-3EAF-F7327A5B0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5F289-3372-431F-B0CC-3B04EDDC8FD1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B73E53-DF07-50F3-389C-88080FE1D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5F51C8-EF3A-7F7A-7C2C-6D4DB3CC4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AF281-2398-4B19-9292-72BE51490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117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6B0C6-E273-D578-4815-86733E629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6A1D4-FE61-90C4-BEEB-59C778A50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C692CD-F905-3AB8-5EE7-F3B4BD79A0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F039B1-3591-6D3A-B36D-A0DBDF1FD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5F289-3372-431F-B0CC-3B04EDDC8FD1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0B6F81-16FC-B546-A10F-73D6598E3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B2755B-1F0C-6A9D-8EA0-19E95BF9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AF281-2398-4B19-9292-72BE51490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034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56149-421F-CEE5-05A8-B48CFF652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005DC1-B41B-3AE3-3A00-DDCC8C863C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523BD1-C8E8-94D6-5B2C-A730395F42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B29256-5AF4-2181-AB74-DB6738DF9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5F289-3372-431F-B0CC-3B04EDDC8FD1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4A0C3A-7811-5852-F2C0-83760125E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1EECBF-F247-30CA-3433-35D94C788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AF281-2398-4B19-9292-72BE51490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662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D2818-03E8-5790-2CBB-CDB36AF66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A80B52-B70F-B8E6-5102-A222024043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F0DF6-8C9D-05A4-8707-5968C9356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5F289-3372-431F-B0CC-3B04EDDC8FD1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307CE-7159-76B7-6246-B393EECE0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80178-C775-B435-898E-4F3CCBE8E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AF281-2398-4B19-9292-72BE51490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059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ED2552-B1E6-EA6D-5170-A91C263ACA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A33974-70D6-6410-7E49-298B930B02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79A4D-02A8-60BA-BAE4-4B81EC2C8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5F289-3372-431F-B0CC-3B04EDDC8FD1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F7166-FE08-8EDE-F646-488227607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DF6CE6-D584-B3E8-FFA7-2A728ECD1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AF281-2398-4B19-9292-72BE51490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1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1717CA-14E8-E225-1167-DFCD53773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232ED3-A396-B21E-CAB5-318FFF206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82DEC-BCF4-F008-2D35-64DE7EF00C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5F289-3372-431F-B0CC-3B04EDDC8FD1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F4376-D293-7A3B-9352-4542F04774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8A826-A07F-2F59-DD31-CD72BEA35B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5AF281-2398-4B19-9292-72BE51490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736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7" Type="http://schemas.openxmlformats.org/officeDocument/2006/relationships/image" Target="../media/image38.jp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jpeg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ning-technology.com/projects/kangankunde-rare-earths-project-malawi/" TargetMode="External"/><Relationship Id="rId2" Type="http://schemas.openxmlformats.org/officeDocument/2006/relationships/hyperlink" Target="https://www.lindianresources.com.au/kangankunde-rare-earths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jpeg"/><Relationship Id="rId4" Type="http://schemas.openxmlformats.org/officeDocument/2006/relationships/hyperlink" Target="https://en.wikipedia.org/wiki/Geology_of_Malawi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093677" cy="6857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592393" y="381001"/>
            <a:ext cx="811161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Times New Roman" pitchFamily="18" charset="0"/>
                <a:cs typeface="Times New Roman" pitchFamily="18" charset="0"/>
              </a:rPr>
              <a:t>A Study of Rare Earth Element Abundance in Various Locations Worldwide; Statistical Approach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362199" y="2548650"/>
            <a:ext cx="4572000" cy="240065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IN" i="1" dirty="0">
                <a:latin typeface="Times New Roman" pitchFamily="18" charset="0"/>
                <a:cs typeface="Times New Roman" pitchFamily="18" charset="0"/>
              </a:rPr>
              <a:t>Presented by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Kiran Vishnu </a:t>
            </a:r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Sanap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 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IN" i="1" dirty="0">
                <a:latin typeface="Times New Roman" pitchFamily="18" charset="0"/>
                <a:cs typeface="Times New Roman" pitchFamily="18" charset="0"/>
              </a:rPr>
              <a:t>Under the guidance of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Dr.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 Mohan </a:t>
            </a:r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Manohar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 Kale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IN" dirty="0">
                <a:latin typeface="Times New Roman" pitchFamily="18" charset="0"/>
                <a:cs typeface="Times New Roman" pitchFamily="18" charset="0"/>
              </a:rPr>
              <a:t>Head of department,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IN" dirty="0">
                <a:latin typeface="Times New Roman" pitchFamily="18" charset="0"/>
                <a:cs typeface="Times New Roman" pitchFamily="18" charset="0"/>
              </a:rPr>
              <a:t>Department of Statistics,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IN" dirty="0" err="1">
                <a:latin typeface="Times New Roman" pitchFamily="18" charset="0"/>
                <a:cs typeface="Times New Roman" pitchFamily="18" charset="0"/>
              </a:rPr>
              <a:t>Savitribai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Phule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Pune University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6991" y="2842257"/>
            <a:ext cx="5024283" cy="401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741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3227" y="1000874"/>
            <a:ext cx="3588774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456043" y="178953"/>
            <a:ext cx="655435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What are Rare Earth Elements?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439" y="914401"/>
            <a:ext cx="78977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Rare Earth Elements (REEs) are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17 metallic elements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with special magnetic,    optical, and chemical properties used in modern technology.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439" y="1822490"/>
            <a:ext cx="891785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Place in Periodic Table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REEs belong to the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Lanthanide series (La–Lu)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in the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f-block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plus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Scandium (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Sc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Yttrium (Y)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0439" y="2800947"/>
            <a:ext cx="685308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Which Elements Are REEs?</a:t>
            </a:r>
          </a:p>
          <a:p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La,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Ce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Pr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Nd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, Pm,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Sm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Eu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Gd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, Tb,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Dy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, Ho,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Er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, Tm,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Yb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Lu,Sc,Y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Total =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17 REEs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56043" y="4056403"/>
            <a:ext cx="891785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Light REEs, Heavy REEs &amp; Oxides 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Light REEs (LREEs):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La,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Pm,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Eu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     More common, used in magnets, catalysts, polishing.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Heavy REEs (HREEs):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latin typeface="Times New Roman" pitchFamily="18" charset="0"/>
                <a:cs typeface="Times New Roman" pitchFamily="18" charset="0"/>
              </a:rPr>
              <a:t>Gd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Tb,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Ho,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Tm,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Yb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Lu + Y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     Rarer, used in high-strength magnets, lasers, advanced tech.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REE Oxides (REOs):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REEs are mainly found as oxides such as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La₂O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₃,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CeO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₂,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Nd₂O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₃,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Dy₂O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₃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etc.</a:t>
            </a:r>
          </a:p>
          <a:p>
            <a:pPr lvl="1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93872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BA4945-613C-0C15-960D-4D23173B529F}"/>
              </a:ext>
            </a:extLst>
          </p:cNvPr>
          <p:cNvSpPr txBox="1"/>
          <p:nvPr/>
        </p:nvSpPr>
        <p:spPr>
          <a:xfrm>
            <a:off x="635920" y="129229"/>
            <a:ext cx="103140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REEs Are Everywhere Around Us, Yet Invisible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931F3D8-2E93-6204-6FB9-96EA68CE0E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432" y="695078"/>
            <a:ext cx="2920182" cy="2098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ounded Rectangle 25">
            <a:extLst>
              <a:ext uri="{FF2B5EF4-FFF2-40B4-BE49-F238E27FC236}">
                <a16:creationId xmlns:a16="http://schemas.microsoft.com/office/drawing/2014/main" id="{77498872-699A-C58E-DCAE-EA2D459744B5}"/>
              </a:ext>
            </a:extLst>
          </p:cNvPr>
          <p:cNvSpPr/>
          <p:nvPr/>
        </p:nvSpPr>
        <p:spPr>
          <a:xfrm>
            <a:off x="6504042" y="695077"/>
            <a:ext cx="4699819" cy="167449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REEs are hidden inside devices we use every day.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Essential for making strong, permanent magnets.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Used in electronics, vehicles, medical machines, speakers,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nd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trains.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About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60% of REEs go into magnet-based applications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E01E8F-5B4F-9A9F-A184-6096035ECF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348" y="2525587"/>
            <a:ext cx="3848611" cy="2254956"/>
          </a:xfrm>
          <a:prstGeom prst="rect">
            <a:avLst/>
          </a:prstGeom>
        </p:spPr>
      </p:pic>
      <p:pic>
        <p:nvPicPr>
          <p:cNvPr id="7" name="Image 7">
            <a:extLst>
              <a:ext uri="{FF2B5EF4-FFF2-40B4-BE49-F238E27FC236}">
                <a16:creationId xmlns:a16="http://schemas.microsoft.com/office/drawing/2014/main" id="{441769CF-3A70-030E-1E54-1EF24D52162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4638" y="4670633"/>
            <a:ext cx="3007930" cy="2077065"/>
          </a:xfrm>
          <a:prstGeom prst="rect">
            <a:avLst/>
          </a:prstGeom>
        </p:spPr>
      </p:pic>
      <p:sp>
        <p:nvSpPr>
          <p:cNvPr id="8" name="Rounded Rectangle 28">
            <a:extLst>
              <a:ext uri="{FF2B5EF4-FFF2-40B4-BE49-F238E27FC236}">
                <a16:creationId xmlns:a16="http://schemas.microsoft.com/office/drawing/2014/main" id="{44DF2167-FAF8-64D0-3873-D0277400FD16}"/>
              </a:ext>
            </a:extLst>
          </p:cNvPr>
          <p:cNvSpPr/>
          <p:nvPr/>
        </p:nvSpPr>
        <p:spPr>
          <a:xfrm>
            <a:off x="698090" y="2793126"/>
            <a:ext cx="4768645" cy="171988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Motors &amp; generators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use Nd,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Pr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Dy, Tb for powerful magnets.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NiMH batteries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contain La, Nd, Ce to store energy efficiently.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REEs enable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better fuel efficiency, lower emissions, and improved performance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9" name="Rounded Rectangle 28">
            <a:extLst>
              <a:ext uri="{FF2B5EF4-FFF2-40B4-BE49-F238E27FC236}">
                <a16:creationId xmlns:a16="http://schemas.microsoft.com/office/drawing/2014/main" id="{FBC957B4-3738-42A1-57DE-C381A3CAF10A}"/>
              </a:ext>
            </a:extLst>
          </p:cNvPr>
          <p:cNvSpPr/>
          <p:nvPr/>
        </p:nvSpPr>
        <p:spPr>
          <a:xfrm>
            <a:off x="6504042" y="5027818"/>
            <a:ext cx="4841085" cy="171988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Eu, Tb, Y for bright colors.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Microphones &amp; vibration motors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Nd, Dy, Gd for strong tiny magnets.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La and Y for high-quality lenses.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Batteries &amp; circuitry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include La,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Nd for stable power and performance.</a:t>
            </a:r>
          </a:p>
          <a:p>
            <a:pPr algn="ctr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FF51390A-1E52-B750-197F-564B39C2FA20}"/>
              </a:ext>
            </a:extLst>
          </p:cNvPr>
          <p:cNvCxnSpPr>
            <a:cxnSpLocks/>
          </p:cNvCxnSpPr>
          <p:nvPr/>
        </p:nvCxnSpPr>
        <p:spPr>
          <a:xfrm flipV="1">
            <a:off x="3618271" y="1193674"/>
            <a:ext cx="2605550" cy="677302"/>
          </a:xfrm>
          <a:prstGeom prst="curvedConnector3">
            <a:avLst/>
          </a:prstGeom>
          <a:ln w="2857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urved Connector 24">
            <a:extLst>
              <a:ext uri="{FF2B5EF4-FFF2-40B4-BE49-F238E27FC236}">
                <a16:creationId xmlns:a16="http://schemas.microsoft.com/office/drawing/2014/main" id="{806F63B3-7281-D874-1CF3-D1045A468A72}"/>
              </a:ext>
            </a:extLst>
          </p:cNvPr>
          <p:cNvCxnSpPr>
            <a:cxnSpLocks/>
          </p:cNvCxnSpPr>
          <p:nvPr/>
        </p:nvCxnSpPr>
        <p:spPr>
          <a:xfrm rot="10800000">
            <a:off x="5545393" y="3237653"/>
            <a:ext cx="1555955" cy="830826"/>
          </a:xfrm>
          <a:prstGeom prst="curvedConnector3">
            <a:avLst/>
          </a:prstGeom>
          <a:ln w="2857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urved Connector 21">
            <a:extLst>
              <a:ext uri="{FF2B5EF4-FFF2-40B4-BE49-F238E27FC236}">
                <a16:creationId xmlns:a16="http://schemas.microsoft.com/office/drawing/2014/main" id="{D98F069D-B6FC-F16D-0765-E6662C78CF47}"/>
              </a:ext>
            </a:extLst>
          </p:cNvPr>
          <p:cNvCxnSpPr>
            <a:cxnSpLocks/>
          </p:cNvCxnSpPr>
          <p:nvPr/>
        </p:nvCxnSpPr>
        <p:spPr>
          <a:xfrm flipV="1">
            <a:off x="3952568" y="5600700"/>
            <a:ext cx="2372032" cy="750939"/>
          </a:xfrm>
          <a:prstGeom prst="curvedConnector3">
            <a:avLst/>
          </a:prstGeom>
          <a:ln w="2857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7327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182CBB-0E96-726A-8115-1CA404F400C9}"/>
              </a:ext>
            </a:extLst>
          </p:cNvPr>
          <p:cNvSpPr txBox="1"/>
          <p:nvPr/>
        </p:nvSpPr>
        <p:spPr>
          <a:xfrm>
            <a:off x="550607" y="168698"/>
            <a:ext cx="6096000" cy="622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Clr>
                <a:srgbClr val="000000"/>
              </a:buClr>
              <a:buSzPts val="1600"/>
            </a:pPr>
            <a:r>
              <a:rPr lang="en-IN" sz="32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  Aim/Objectives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21A9C417-3001-BFB9-7787-C1F165DE928E}"/>
              </a:ext>
            </a:extLst>
          </p:cNvPr>
          <p:cNvSpPr/>
          <p:nvPr/>
        </p:nvSpPr>
        <p:spPr>
          <a:xfrm>
            <a:off x="806245" y="963561"/>
            <a:ext cx="10264878" cy="825910"/>
          </a:xfrm>
          <a:prstGeom prst="chevron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Study the abundance and distribution of Rare Earth Elements (REEs) across multiple rock types.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A5618C61-3D5B-A6F8-B620-E6BEBB0F3D52}"/>
              </a:ext>
            </a:extLst>
          </p:cNvPr>
          <p:cNvSpPr/>
          <p:nvPr/>
        </p:nvSpPr>
        <p:spPr>
          <a:xfrm>
            <a:off x="806245" y="1961535"/>
            <a:ext cx="10264878" cy="825910"/>
          </a:xfrm>
          <a:prstGeom prst="chevron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Compare REE patterns from different geological sites around the world.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5CA9376C-53ED-4793-C0BB-F79A8E557D25}"/>
              </a:ext>
            </a:extLst>
          </p:cNvPr>
          <p:cNvSpPr/>
          <p:nvPr/>
        </p:nvSpPr>
        <p:spPr>
          <a:xfrm>
            <a:off x="806245" y="2959509"/>
            <a:ext cx="10264878" cy="825910"/>
          </a:xfrm>
          <a:prstGeom prst="chevron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Apply statistical and geochemical methods to evaluate REE behavior in various lithologies.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40655B2D-5829-8B73-084C-8D2F1BAAB84E}"/>
              </a:ext>
            </a:extLst>
          </p:cNvPr>
          <p:cNvSpPr/>
          <p:nvPr/>
        </p:nvSpPr>
        <p:spPr>
          <a:xfrm>
            <a:off x="806245" y="3957483"/>
            <a:ext cx="10264878" cy="825910"/>
          </a:xfrm>
          <a:prstGeom prst="chevron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Identify enrichment trends, fractionation patterns, and anomalies within REE datasets.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20DE0372-C929-BAFE-26C8-5A0125E82C53}"/>
              </a:ext>
            </a:extLst>
          </p:cNvPr>
          <p:cNvSpPr/>
          <p:nvPr/>
        </p:nvSpPr>
        <p:spPr>
          <a:xfrm>
            <a:off x="806245" y="4955457"/>
            <a:ext cx="10264878" cy="825910"/>
          </a:xfrm>
          <a:prstGeom prst="chevron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Assess the geological significance and resource potential of REE-bearing rocks.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A97BE244-6663-90A5-FB0E-6C17C929E1E4}"/>
              </a:ext>
            </a:extLst>
          </p:cNvPr>
          <p:cNvSpPr/>
          <p:nvPr/>
        </p:nvSpPr>
        <p:spPr>
          <a:xfrm>
            <a:off x="806245" y="5953431"/>
            <a:ext cx="10264878" cy="825910"/>
          </a:xfrm>
          <a:prstGeom prst="chevron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Provide data-driven insights to support exploration and geochemical interpretations.</a:t>
            </a:r>
          </a:p>
        </p:txBody>
      </p:sp>
    </p:spTree>
    <p:extLst>
      <p:ext uri="{BB962C8B-B14F-4D97-AF65-F5344CB8AC3E}">
        <p14:creationId xmlns:p14="http://schemas.microsoft.com/office/powerpoint/2010/main" val="1568283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419475" y="15241"/>
            <a:ext cx="502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itchFamily="18" charset="0"/>
              </a:rPr>
              <a:t>Methodology Followed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9622" y="4480050"/>
            <a:ext cx="2438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C0066"/>
                </a:solidFill>
                <a:latin typeface="Times New Roman" pitchFamily="18" charset="0"/>
                <a:cs typeface="Times New Roman" pitchFamily="18" charset="0"/>
              </a:rPr>
              <a:t> Missing Data Imputation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Outliers present in data.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Missing values filled with median.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Median gives stable, reliable replacement.</a:t>
            </a:r>
          </a:p>
          <a:p>
            <a:pPr marL="171450" indent="-171450">
              <a:buFont typeface="Arial" pitchFamily="34" charset="0"/>
              <a:buChar char="•"/>
            </a:pPr>
            <a:endParaRPr lang="en-US" sz="1200" dirty="0">
              <a:solidFill>
                <a:srgbClr val="CC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90532" y="803107"/>
            <a:ext cx="27432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IN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Skewness</a:t>
            </a:r>
            <a:endParaRPr lang="en-IN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>
                <a:latin typeface="Times New Roman" pitchFamily="18" charset="0"/>
                <a:cs typeface="Times New Roman" pitchFamily="18" charset="0"/>
              </a:rPr>
              <a:t>Skewness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shows how asymmetric a distribution is.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0 =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symmetrical (normal).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Positive &gt; 0 =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right-tailed.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Negative &lt; 0 =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left-tailed.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Helps choose suitable statistical methods in REE analysis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ctr"/>
            <a:endParaRPr lang="en-IN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661" y="2520176"/>
            <a:ext cx="11169445" cy="195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3026983" y="4479151"/>
            <a:ext cx="195453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    Kurtosis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Kurtosis shows how peaked or heavy-tailed a distribution is.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Kurtosis = 3: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Normal (</a:t>
            </a:r>
            <a:r>
              <a:rPr lang="en-US" sz="1200" dirty="0" err="1">
                <a:latin typeface="Times New Roman" pitchFamily="18" charset="0"/>
                <a:cs typeface="Times New Roman" pitchFamily="18" charset="0"/>
              </a:rPr>
              <a:t>mesokurtic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Kurtosis &gt; 3: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Leptokurtic — heavier tails, sharper peak, more outliers.</a:t>
            </a:r>
          </a:p>
          <a:p>
            <a:pPr marL="171450" indent="-171450">
              <a:buFont typeface="Arial" pitchFamily="34" charset="0"/>
              <a:buChar char="•"/>
            </a:pPr>
            <a:endParaRPr lang="en-US" sz="1200" dirty="0">
              <a:solidFill>
                <a:srgbClr val="FFC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15044" y="749855"/>
            <a:ext cx="2209800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C6600"/>
                </a:solidFill>
                <a:latin typeface="Times New Roman" pitchFamily="18" charset="0"/>
                <a:cs typeface="Times New Roman" pitchFamily="18" charset="0"/>
              </a:rPr>
              <a:t>Log Transformation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Square root transformation applied.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Reduces </a:t>
            </a:r>
            <a:r>
              <a:rPr lang="en-US" sz="1200" dirty="0" err="1">
                <a:latin typeface="Times New Roman" pitchFamily="18" charset="0"/>
                <a:cs typeface="Times New Roman" pitchFamily="18" charset="0"/>
              </a:rPr>
              <a:t>skewness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Stabilizes variance.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Lessens extreme values’ effect.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Makes data suitable for analysis.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>
              <a:solidFill>
                <a:srgbClr val="CC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54344" y="4507069"/>
            <a:ext cx="231648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itchFamily="18" charset="0"/>
              </a:rPr>
              <a:t>    Clustering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 groups similar data.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Methods: K-means, Hierarchical, DBSCAN.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shows tree (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dendrogram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set cluster number needed.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classify REE samples.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patterns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relationship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056035" y="749855"/>
            <a:ext cx="2028825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Cluster Profiling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Profiled clusters after K-Means &amp; Hierarchical.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Checked key variables per cluster.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Found trends and features.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Labeled clusters clearly.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Shows patterns for decisions.</a:t>
            </a:r>
          </a:p>
          <a:p>
            <a:endParaRPr lang="en-US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530959" y="4507069"/>
            <a:ext cx="2362201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CC6600"/>
                </a:solidFill>
                <a:latin typeface="Times New Roman" pitchFamily="18" charset="0"/>
                <a:cs typeface="Times New Roman" pitchFamily="18" charset="0"/>
              </a:rPr>
              <a:t>Regression Analysis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100" dirty="0">
                <a:latin typeface="Times New Roman" pitchFamily="18" charset="0"/>
                <a:cs typeface="Times New Roman" pitchFamily="18" charset="0"/>
              </a:rPr>
              <a:t>Regression shows variable relationships.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100" dirty="0">
                <a:latin typeface="Times New Roman" pitchFamily="18" charset="0"/>
                <a:cs typeface="Times New Roman" pitchFamily="18" charset="0"/>
              </a:rPr>
              <a:t>Predicts trends and associations.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100" dirty="0">
                <a:latin typeface="Times New Roman" pitchFamily="18" charset="0"/>
                <a:cs typeface="Times New Roman" pitchFamily="18" charset="0"/>
              </a:rPr>
              <a:t>Elastic Net = Lasso + Ridge.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100" dirty="0">
                <a:latin typeface="Times New Roman" pitchFamily="18" charset="0"/>
                <a:cs typeface="Times New Roman" pitchFamily="18" charset="0"/>
              </a:rPr>
              <a:t>Handles many correlated variables.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100" dirty="0">
                <a:latin typeface="Times New Roman" pitchFamily="18" charset="0"/>
                <a:cs typeface="Times New Roman" pitchFamily="18" charset="0"/>
              </a:rPr>
              <a:t>Shrinks coefficients, selects features.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100" dirty="0">
                <a:latin typeface="Times New Roman" pitchFamily="18" charset="0"/>
                <a:cs typeface="Times New Roman" pitchFamily="18" charset="0"/>
              </a:rPr>
              <a:t>Prevents </a:t>
            </a:r>
            <a:r>
              <a:rPr lang="en-US" sz="1100" dirty="0" err="1">
                <a:latin typeface="Times New Roman" pitchFamily="18" charset="0"/>
                <a:cs typeface="Times New Roman" pitchFamily="18" charset="0"/>
              </a:rPr>
              <a:t>overfitting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solidFill>
                <a:srgbClr val="CC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616051" y="803107"/>
            <a:ext cx="21336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       ANOVA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Used One-Way ANOVA to check group differences.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Used High-Dimensional Hotelling’s T^2 test for multivariate differences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374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7C99CFD-DAFD-F051-CA7E-10C3B0ED6443}"/>
              </a:ext>
            </a:extLst>
          </p:cNvPr>
          <p:cNvSpPr txBox="1"/>
          <p:nvPr/>
        </p:nvSpPr>
        <p:spPr>
          <a:xfrm>
            <a:off x="3048000" y="0"/>
            <a:ext cx="6096000" cy="689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IN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Data Description</a:t>
            </a:r>
            <a:endParaRPr lang="en-IN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C3D874-1DC2-FD53-A479-E89EB84AF9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659938"/>
              </p:ext>
            </p:extLst>
          </p:nvPr>
        </p:nvGraphicFramePr>
        <p:xfrm>
          <a:off x="334297" y="689099"/>
          <a:ext cx="11523406" cy="5908346"/>
        </p:xfrm>
        <a:graphic>
          <a:graphicData uri="http://schemas.openxmlformats.org/drawingml/2006/table">
            <a:tbl>
              <a:tblPr firstRow="1" firstCol="1" bandRow="1">
                <a:tableStyleId>{912C8C85-51F0-491E-9774-3900AFEF0FD7}</a:tableStyleId>
              </a:tblPr>
              <a:tblGrid>
                <a:gridCol w="2220762">
                  <a:extLst>
                    <a:ext uri="{9D8B030D-6E8A-4147-A177-3AD203B41FA5}">
                      <a16:colId xmlns:a16="http://schemas.microsoft.com/office/drawing/2014/main" val="320904648"/>
                    </a:ext>
                  </a:extLst>
                </a:gridCol>
                <a:gridCol w="2926905">
                  <a:extLst>
                    <a:ext uri="{9D8B030D-6E8A-4147-A177-3AD203B41FA5}">
                      <a16:colId xmlns:a16="http://schemas.microsoft.com/office/drawing/2014/main" val="4000497795"/>
                    </a:ext>
                  </a:extLst>
                </a:gridCol>
                <a:gridCol w="3285092">
                  <a:extLst>
                    <a:ext uri="{9D8B030D-6E8A-4147-A177-3AD203B41FA5}">
                      <a16:colId xmlns:a16="http://schemas.microsoft.com/office/drawing/2014/main" val="3356949324"/>
                    </a:ext>
                  </a:extLst>
                </a:gridCol>
                <a:gridCol w="3090647">
                  <a:extLst>
                    <a:ext uri="{9D8B030D-6E8A-4147-A177-3AD203B41FA5}">
                      <a16:colId xmlns:a16="http://schemas.microsoft.com/office/drawing/2014/main" val="2785797131"/>
                    </a:ext>
                  </a:extLst>
                </a:gridCol>
              </a:tblGrid>
              <a:tr h="39407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447" marR="5944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Bayan Obo (China)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447" marR="5944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Belaya Zima (Russia)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447" marR="5944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Fen Complex (Norway)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447" marR="59447" marT="0" marB="0"/>
                </a:tc>
                <a:extLst>
                  <a:ext uri="{0D108BD9-81ED-4DB2-BD59-A6C34878D82A}">
                    <a16:rowId xmlns:a16="http://schemas.microsoft.com/office/drawing/2014/main" val="1590990440"/>
                  </a:ext>
                </a:extLst>
              </a:tr>
              <a:tr h="58375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447" marR="5944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Inner Mongolia, China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447" marR="5944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Eastern Sayan Mountains, Siberia, Russia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447" marR="5944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Telemark region, Norway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447" marR="59447" marT="0" marB="0"/>
                </a:tc>
                <a:extLst>
                  <a:ext uri="{0D108BD9-81ED-4DB2-BD59-A6C34878D82A}">
                    <a16:rowId xmlns:a16="http://schemas.microsoft.com/office/drawing/2014/main" val="2468049938"/>
                  </a:ext>
                </a:extLst>
              </a:tr>
              <a:tr h="74991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Geological Setting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447" marR="5944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World’s largest REE carbonatite deposit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447" marR="5944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Carbonatite–silicate intrusive complex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447" marR="5944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Classical carbonatite complex &amp; type locality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447" marR="59447" marT="0" marB="0"/>
                </a:tc>
                <a:extLst>
                  <a:ext uri="{0D108BD9-81ED-4DB2-BD59-A6C34878D82A}">
                    <a16:rowId xmlns:a16="http://schemas.microsoft.com/office/drawing/2014/main" val="2387039683"/>
                  </a:ext>
                </a:extLst>
              </a:tr>
              <a:tr h="114209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Rock Types in Dataset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447" marR="5944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Carbonatite (</a:t>
                      </a:r>
                      <a:r>
                        <a:rPr lang="en-IN" sz="16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Cbt</a:t>
                      </a: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&amp; </a:t>
                      </a:r>
                      <a:r>
                        <a:rPr lang="en-IN" sz="16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Fenite</a:t>
                      </a: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(Ft)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447" marR="5944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Melteigite (M), Ijolite (I), Alkaline Syenite (A), Calcite–Dolomite Carbonatite (CD), Ankerite Carbonatite (AC)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447" marR="5944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Carbonatite (C), Transitional Carbonatite (TWC), </a:t>
                      </a:r>
                      <a:r>
                        <a:rPr lang="en-IN" sz="16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Rødbergite</a:t>
                      </a: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(R), Transitional </a:t>
                      </a:r>
                      <a:r>
                        <a:rPr lang="en-IN" sz="16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Rødbergite</a:t>
                      </a: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(TRE)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447" marR="59447" marT="0" marB="0"/>
                </a:tc>
                <a:extLst>
                  <a:ext uri="{0D108BD9-81ED-4DB2-BD59-A6C34878D82A}">
                    <a16:rowId xmlns:a16="http://schemas.microsoft.com/office/drawing/2014/main" val="3817431844"/>
                  </a:ext>
                </a:extLst>
              </a:tr>
              <a:tr h="27272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Sample Count (Given)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447" marR="5944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149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447" marR="5944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1,104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447" marR="5944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542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447" marR="59447" marT="0" marB="0"/>
                </a:tc>
                <a:extLst>
                  <a:ext uri="{0D108BD9-81ED-4DB2-BD59-A6C34878D82A}">
                    <a16:rowId xmlns:a16="http://schemas.microsoft.com/office/drawing/2014/main" val="2593082740"/>
                  </a:ext>
                </a:extLst>
              </a:tr>
              <a:tr h="27272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Missing Values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447" marR="5944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447" marR="5944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116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447" marR="5944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447" marR="59447" marT="0" marB="0"/>
                </a:tc>
                <a:extLst>
                  <a:ext uri="{0D108BD9-81ED-4DB2-BD59-A6C34878D82A}">
                    <a16:rowId xmlns:a16="http://schemas.microsoft.com/office/drawing/2014/main" val="694844040"/>
                  </a:ext>
                </a:extLst>
              </a:tr>
              <a:tr h="27272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Observations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447" marR="5944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168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447" marR="5944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1,220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447" marR="5944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550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447" marR="59447" marT="0" marB="0"/>
                </a:tc>
                <a:extLst>
                  <a:ext uri="{0D108BD9-81ED-4DB2-BD59-A6C34878D82A}">
                    <a16:rowId xmlns:a16="http://schemas.microsoft.com/office/drawing/2014/main" val="3578446810"/>
                  </a:ext>
                </a:extLst>
              </a:tr>
              <a:tr h="6293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Elements Measured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447" marR="5944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 REEs (La–Lu)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447" marR="5944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70+ elements (Major oxides, trace elements &amp; REEs)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447" marR="5944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 elements (REEs + HFSE + La/Yb ratio)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447" marR="59447" marT="0" marB="0"/>
                </a:tc>
                <a:extLst>
                  <a:ext uri="{0D108BD9-81ED-4DB2-BD59-A6C34878D82A}">
                    <a16:rowId xmlns:a16="http://schemas.microsoft.com/office/drawing/2014/main" val="314625839"/>
                  </a:ext>
                </a:extLst>
              </a:tr>
              <a:tr h="96165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Notable Features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447" marR="5944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Largest global REE reserves; strong LREE enrichment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447" marR="5944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Highly variable REE patterns; strong enrichment in CD &amp; AC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447" marR="5944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Classic LREE-enriched carbonatite system; significant Nb–Th–REE enrichment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447" marR="59447" marT="0" marB="0"/>
                </a:tc>
                <a:extLst>
                  <a:ext uri="{0D108BD9-81ED-4DB2-BD59-A6C34878D82A}">
                    <a16:rowId xmlns:a16="http://schemas.microsoft.com/office/drawing/2014/main" val="2780519904"/>
                  </a:ext>
                </a:extLst>
              </a:tr>
              <a:tr h="6293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Rock Examples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447" marR="5944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90/39, 90/43, 90/44, 90/48 (Cbt); 90/49, 90/51 (Ft)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447" marR="5944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2309/109–114 (M); C1-135-144 (A); c411/25-34 (CD)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447" marR="59447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15-82, 15-83 (C); 15-86 (R); 15-91 (TRE)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447" marR="59447" marT="0" marB="0"/>
                </a:tc>
                <a:extLst>
                  <a:ext uri="{0D108BD9-81ED-4DB2-BD59-A6C34878D82A}">
                    <a16:rowId xmlns:a16="http://schemas.microsoft.com/office/drawing/2014/main" val="19871596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1135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DA030B-923F-B784-2CC9-CD450503E4F5}"/>
              </a:ext>
            </a:extLst>
          </p:cNvPr>
          <p:cNvSpPr txBox="1"/>
          <p:nvPr/>
        </p:nvSpPr>
        <p:spPr>
          <a:xfrm>
            <a:off x="3047999" y="0"/>
            <a:ext cx="6096000" cy="689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IN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Summary Statistics </a:t>
            </a:r>
            <a:endParaRPr lang="en-IN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2B7BC76-0A3B-C7C4-7356-A7FBCED518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124665"/>
              </p:ext>
            </p:extLst>
          </p:nvPr>
        </p:nvGraphicFramePr>
        <p:xfrm>
          <a:off x="408038" y="842399"/>
          <a:ext cx="11375923" cy="5505222"/>
        </p:xfrm>
        <a:graphic>
          <a:graphicData uri="http://schemas.openxmlformats.org/drawingml/2006/table">
            <a:tbl>
              <a:tblPr firstRow="1" firstCol="1" bandRow="1">
                <a:tableStyleId>{5A111915-BE36-4E01-A7E5-04B1672EAD32}</a:tableStyleId>
              </a:tblPr>
              <a:tblGrid>
                <a:gridCol w="1821151">
                  <a:extLst>
                    <a:ext uri="{9D8B030D-6E8A-4147-A177-3AD203B41FA5}">
                      <a16:colId xmlns:a16="http://schemas.microsoft.com/office/drawing/2014/main" val="3260443416"/>
                    </a:ext>
                  </a:extLst>
                </a:gridCol>
                <a:gridCol w="3292401">
                  <a:extLst>
                    <a:ext uri="{9D8B030D-6E8A-4147-A177-3AD203B41FA5}">
                      <a16:colId xmlns:a16="http://schemas.microsoft.com/office/drawing/2014/main" val="900142146"/>
                    </a:ext>
                  </a:extLst>
                </a:gridCol>
                <a:gridCol w="3069087">
                  <a:extLst>
                    <a:ext uri="{9D8B030D-6E8A-4147-A177-3AD203B41FA5}">
                      <a16:colId xmlns:a16="http://schemas.microsoft.com/office/drawing/2014/main" val="1878019898"/>
                    </a:ext>
                  </a:extLst>
                </a:gridCol>
                <a:gridCol w="3193284">
                  <a:extLst>
                    <a:ext uri="{9D8B030D-6E8A-4147-A177-3AD203B41FA5}">
                      <a16:colId xmlns:a16="http://schemas.microsoft.com/office/drawing/2014/main" val="1902804865"/>
                    </a:ext>
                  </a:extLst>
                </a:gridCol>
              </a:tblGrid>
              <a:tr h="4768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Site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50" marR="6555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REE/Element Behavior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50" marR="6555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Variability (SD / Range)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50" marR="6555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Overall Geochemical Pattern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50" marR="65550" marT="0" marB="0"/>
                </a:tc>
                <a:extLst>
                  <a:ext uri="{0D108BD9-81ED-4DB2-BD59-A6C34878D82A}">
                    <a16:rowId xmlns:a16="http://schemas.microsoft.com/office/drawing/2014/main" val="2506708406"/>
                  </a:ext>
                </a:extLst>
              </a:tr>
              <a:tr h="18523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Bayan Obo (China)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50" marR="6555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IN" sz="18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Cbt</a:t>
                      </a: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Very high REEs (~1,000–15,000)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Ft: Very low REEs (~9–420)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50" marR="6555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Cbt: Very high SD (24,000–33,000)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Ft: Low–moderate variation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50" marR="6555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Strong LREE enrichment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Fenites reflect metasomatic alteration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Clear Cbt–Ft geochemical separation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50" marR="65550" marT="0" marB="0"/>
                </a:tc>
                <a:extLst>
                  <a:ext uri="{0D108BD9-81ED-4DB2-BD59-A6C34878D82A}">
                    <a16:rowId xmlns:a16="http://schemas.microsoft.com/office/drawing/2014/main" val="992204137"/>
                  </a:ext>
                </a:extLst>
              </a:tr>
              <a:tr h="150933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Belaya Zima (Russia)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50" marR="6555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CD &amp; AC: Highest mean values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M/I/A: Lower &amp; stable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50" marR="6555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CD &amp; AC: Extremely high SD &amp; wide ranges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M/I/A: Low SD (more stable)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50" marR="6555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Highly heterogeneous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Strong enrichment in CD &amp; AC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Clear low → high trend (M/I/A → CD/AC)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50" marR="65550" marT="0" marB="0"/>
                </a:tc>
                <a:extLst>
                  <a:ext uri="{0D108BD9-81ED-4DB2-BD59-A6C34878D82A}">
                    <a16:rowId xmlns:a16="http://schemas.microsoft.com/office/drawing/2014/main" val="811431650"/>
                  </a:ext>
                </a:extLst>
              </a:tr>
              <a:tr h="166670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Fen Complex (Norway)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50" marR="6555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 &amp; TWC: Low–moderate averages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R &amp; TRE: Highest REE averages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50" marR="6555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C/TWC: Low variation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R &amp; TRE: High variation, wide ranges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50" marR="6555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Classic carbonatite pattern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Strong LREE enrichment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• TRE consistently most enriched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550" marR="65550" marT="0" marB="0"/>
                </a:tc>
                <a:extLst>
                  <a:ext uri="{0D108BD9-81ED-4DB2-BD59-A6C34878D82A}">
                    <a16:rowId xmlns:a16="http://schemas.microsoft.com/office/drawing/2014/main" val="11442739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8478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B6C955-BA9C-6C7B-8CDC-F540B3675D4C}"/>
              </a:ext>
            </a:extLst>
          </p:cNvPr>
          <p:cNvSpPr txBox="1"/>
          <p:nvPr/>
        </p:nvSpPr>
        <p:spPr>
          <a:xfrm>
            <a:off x="415412" y="201461"/>
            <a:ext cx="6096000" cy="689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Dealing with missing data:</a:t>
            </a:r>
            <a:endParaRPr lang="en-IN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4A8158-AA21-B2EA-94BB-A8D068CEFAE1}"/>
              </a:ext>
            </a:extLst>
          </p:cNvPr>
          <p:cNvSpPr txBox="1"/>
          <p:nvPr/>
        </p:nvSpPr>
        <p:spPr>
          <a:xfrm>
            <a:off x="415412" y="1081276"/>
            <a:ext cx="1046889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contained outliers and skewed distributions.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 imputation was chosen to avoid distortion from extreme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 provides a robust and stable replacement for missing data.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C28882-9667-D4FF-D35F-8C762E3498FE}"/>
              </a:ext>
            </a:extLst>
          </p:cNvPr>
          <p:cNvSpPr txBox="1"/>
          <p:nvPr/>
        </p:nvSpPr>
        <p:spPr>
          <a:xfrm>
            <a:off x="619434" y="2222621"/>
            <a:ext cx="3773130" cy="1015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Bayan Obo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NRMSE = 0.0675 (~6.7%)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excellent performance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15E9CA-A591-A582-3B10-CCF1108668D0}"/>
              </a:ext>
            </a:extLst>
          </p:cNvPr>
          <p:cNvSpPr txBox="1"/>
          <p:nvPr/>
        </p:nvSpPr>
        <p:spPr>
          <a:xfrm>
            <a:off x="3853936" y="3429000"/>
            <a:ext cx="3591847" cy="1015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Belaya Zima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NRMSE = 0.0321 (3%)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accurate imputation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18660C-275E-F96A-FCB5-89E18267FE4F}"/>
              </a:ext>
            </a:extLst>
          </p:cNvPr>
          <p:cNvSpPr txBox="1"/>
          <p:nvPr/>
        </p:nvSpPr>
        <p:spPr>
          <a:xfrm>
            <a:off x="6650290" y="4635379"/>
            <a:ext cx="4581835" cy="1015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Fen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NRMSE = 0.1631 (16%)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good but slightly higher error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6CB15EE-9A02-31F9-B799-010FA3A052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0034" y="801434"/>
            <a:ext cx="2562532" cy="2562532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3539CB-816D-6360-5E72-596DAC2302E8}"/>
              </a:ext>
            </a:extLst>
          </p:cNvPr>
          <p:cNvSpPr txBox="1"/>
          <p:nvPr/>
        </p:nvSpPr>
        <p:spPr>
          <a:xfrm>
            <a:off x="285136" y="5716076"/>
            <a:ext cx="10821633" cy="148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1200"/>
              </a:spcBef>
              <a:buFont typeface="Wingdings" panose="05000000000000000000" pitchFamily="2" charset="2"/>
              <a:buChar char="v"/>
            </a:pPr>
            <a:r>
              <a:rPr lang="en-IN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Log Transformation:</a:t>
            </a: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To address skewness and stabilize the variance in the dataset, a log transformation was applied to our data set.</a:t>
            </a:r>
          </a:p>
          <a:p>
            <a:pPr marL="228600" marR="0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en-IN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6780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260" y="1"/>
            <a:ext cx="102704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Skewness And Kurtosis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6591" y="1563757"/>
            <a:ext cx="4412974" cy="4479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172278" y="719974"/>
            <a:ext cx="48635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Bayan Obo – China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Skewness - 1.87 – 3.47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Kurtosis – 2.19 – 12.35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Mostly positive skew; data moderately to highly right-skewed. Leptokurtic, peaked distributions with occasional extreme values.</a:t>
            </a:r>
          </a:p>
        </p:txBody>
      </p:sp>
      <p:pic>
        <p:nvPicPr>
          <p:cNvPr id="10" name="Picture 9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9078" y="144255"/>
            <a:ext cx="6785114" cy="2098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172278" y="2714192"/>
            <a:ext cx="4876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Belaya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zima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Russia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Skewness – 3.07 – 7.65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Kurtosis – 8.95 – 59.26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positive skew; strong right tails and extreme values. Leptokurtic to extremely leptokurtic, sharp peaks indicate non-normality.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9078" y="2466198"/>
            <a:ext cx="6785114" cy="192560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172277" y="4682421"/>
            <a:ext cx="470452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Fen – Norway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Skewness – 1.5 – 3.5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Kurtosis – &gt;3 (some &gt;10)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Right-skewed; few large values influence results. Leptokurtic, heavy tails, reflecting natural variability.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9078" y="4571457"/>
            <a:ext cx="3458818" cy="20313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7409" y="4727942"/>
            <a:ext cx="3233532" cy="179084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4645" y="4571456"/>
            <a:ext cx="3326296" cy="20313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1663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7993" y="185010"/>
            <a:ext cx="90114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 of Bayan Obo </a:t>
            </a:r>
          </a:p>
        </p:txBody>
      </p:sp>
      <p:pic>
        <p:nvPicPr>
          <p:cNvPr id="8" name="Picture 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583" y="1006699"/>
            <a:ext cx="6599581" cy="34139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1391479" y="5232297"/>
            <a:ext cx="3903376" cy="40947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Cluster 2 (MREE): </a:t>
            </a:r>
            <a:r>
              <a:rPr lang="en-IN" b="1" dirty="0" err="1">
                <a:solidFill>
                  <a:schemeClr val="tx1"/>
                </a:solidFill>
              </a:rPr>
              <a:t>Pr</a:t>
            </a:r>
            <a:r>
              <a:rPr lang="en-IN" b="1" dirty="0">
                <a:solidFill>
                  <a:schemeClr val="tx1"/>
                </a:solidFill>
              </a:rPr>
              <a:t>, Sm, </a:t>
            </a:r>
            <a:r>
              <a:rPr lang="en-IN" b="1" dirty="0" err="1">
                <a:solidFill>
                  <a:schemeClr val="tx1"/>
                </a:solidFill>
              </a:rPr>
              <a:t>Eu</a:t>
            </a:r>
            <a:r>
              <a:rPr lang="en-IN" b="1" dirty="0">
                <a:solidFill>
                  <a:schemeClr val="tx1"/>
                </a:solidFill>
              </a:rPr>
              <a:t>, </a:t>
            </a:r>
            <a:r>
              <a:rPr lang="en-IN" b="1" dirty="0" err="1">
                <a:solidFill>
                  <a:schemeClr val="tx1"/>
                </a:solidFill>
              </a:rPr>
              <a:t>Gd</a:t>
            </a:r>
            <a:r>
              <a:rPr lang="en-IN" b="1" dirty="0">
                <a:solidFill>
                  <a:schemeClr val="tx1"/>
                </a:solidFill>
              </a:rPr>
              <a:t>, </a:t>
            </a:r>
            <a:r>
              <a:rPr lang="en-IN" b="1" dirty="0" err="1">
                <a:solidFill>
                  <a:schemeClr val="tx1"/>
                </a:solidFill>
              </a:rPr>
              <a:t>Dy</a:t>
            </a:r>
            <a:r>
              <a:rPr lang="en-IN" b="1" dirty="0">
                <a:solidFill>
                  <a:schemeClr val="tx1"/>
                </a:solidFill>
              </a:rPr>
              <a:t>, </a:t>
            </a:r>
            <a:r>
              <a:rPr lang="en-IN" b="1" dirty="0" err="1">
                <a:solidFill>
                  <a:schemeClr val="tx1"/>
                </a:solidFill>
              </a:rPr>
              <a:t>Er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391478" y="5823316"/>
            <a:ext cx="4452730" cy="44364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 0 (HREE): Tb, </a:t>
            </a:r>
            <a:r>
              <a:rPr lang="en-IN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Tm, </a:t>
            </a:r>
            <a:r>
              <a:rPr lang="en-IN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Yb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91479" y="4622416"/>
            <a:ext cx="3870860" cy="45535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Cluster 1 (LREE): La, Ce, </a:t>
            </a:r>
            <a:r>
              <a:rPr lang="en-IN" b="1" dirty="0" err="1">
                <a:solidFill>
                  <a:schemeClr val="tx1"/>
                </a:solidFill>
              </a:rPr>
              <a:t>Nd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18782" y="905268"/>
            <a:ext cx="3564835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REE Fractionation Pattern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LREEs: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Highly enriched (typical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carbonatitic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signature)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MREEs: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Moderately enriched (controlled by apatite)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HREEs: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Depleted (indicates garnet retention in the source)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 Anomaly: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 clusters separately, showing it behaves differently from other REEs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391477" y="5238488"/>
            <a:ext cx="4452731" cy="40947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 2 (MREE): </a:t>
            </a:r>
            <a:r>
              <a:rPr lang="en-IN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Sm, </a:t>
            </a:r>
            <a:r>
              <a:rPr lang="en-IN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Eu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Gd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391478" y="4628607"/>
            <a:ext cx="4452730" cy="45535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 1 (LREE): La, Ce, </a:t>
            </a:r>
            <a:r>
              <a:rPr lang="en-IN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8836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792" y="188800"/>
            <a:ext cx="74874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Profiling of Bayan Obo </a:t>
            </a:r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792" y="1007164"/>
            <a:ext cx="6281530" cy="32467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145775" y="4360876"/>
            <a:ext cx="426719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1 – Highly Enriched REE Group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REE concentrations in both plots.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Largest bars and widest radar shape.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fertile, enriched, less-fractionated samples.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Samples: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90/43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Cbt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93/149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Cbt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93/151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Cbt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12974" y="4360876"/>
            <a:ext cx="369735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2 – Moderately Enriched Group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REE values in both graphs.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mixed or moderately evolved signatures.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Neither strongly enriched nor depleted.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69355" y="4389588"/>
            <a:ext cx="365760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0 – Depleted REE Group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Lowest REE concentrations in both plots.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Smallest bars and smallest radar shape.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depleted or strongly fractionated REE patterns, especially in Ft samples.</a:t>
            </a:r>
          </a:p>
        </p:txBody>
      </p:sp>
      <p:pic>
        <p:nvPicPr>
          <p:cNvPr id="8" name="Picture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4139" y="1007164"/>
            <a:ext cx="4598502" cy="32467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68375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9025" y="212034"/>
            <a:ext cx="6824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 of Belaya Zima </a:t>
            </a:r>
          </a:p>
        </p:txBody>
      </p:sp>
      <p:pic>
        <p:nvPicPr>
          <p:cNvPr id="3" name="Picture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48" y="967409"/>
            <a:ext cx="7103165" cy="31691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ounded Rectangle 3"/>
          <p:cNvSpPr/>
          <p:nvPr/>
        </p:nvSpPr>
        <p:spPr>
          <a:xfrm>
            <a:off x="501415" y="4412974"/>
            <a:ext cx="6376463" cy="46382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 1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Gd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–Lu,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Zr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Nb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Hf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Ta, W,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U, plus Y and Sc.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1414" y="5057554"/>
            <a:ext cx="6376463" cy="5054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 2 LREEs (La–</a:t>
            </a:r>
            <a:r>
              <a:rPr lang="en-IN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Eu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1415" y="5797826"/>
            <a:ext cx="6376462" cy="51020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 3 </a:t>
            </a:r>
            <a:r>
              <a:rPr lang="en-IN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SiO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₂, </a:t>
            </a:r>
            <a:r>
              <a:rPr lang="en-IN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Al₂O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₃, </a:t>
            </a:r>
            <a:r>
              <a:rPr lang="en-IN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MgO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FeO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Fe₂O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94713" y="858365"/>
            <a:ext cx="4479235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clear geochemical clusters identified: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1: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HREE- and HFSE-enriched group (with Y,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2: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LREE-rich group with moderately high major oxides and Ba–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enrichment.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3: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Major-oxide–dominated group with overall low REE content.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Distinct REE fractionation pattern: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HREE enrichment vs. LREE enrichment vs.  REE-poor signatures clearly separated.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Reflects strong source and process differences: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Variations indicate differences in source composition, melt evolution, and fractionation controls.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3573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684" y="110767"/>
            <a:ext cx="93427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Profiling of Belaya Zima </a:t>
            </a:r>
            <a:endParaRPr lang="en-IN" sz="3600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32" y="884870"/>
            <a:ext cx="6655064" cy="32865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5981" y="884870"/>
            <a:ext cx="4536972" cy="32865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159027" y="4333461"/>
            <a:ext cx="38166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1 – Highly Enriched Group (Blue)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REE values in both plots.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Largest radar shape and tallest bars.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strongly enriched, evolved-source samples.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Samples: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2309/109–114 M, 01/151 M, 2092-761-763 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96049" y="4272677"/>
            <a:ext cx="386963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2 – Moderately Enriched Group (Orange)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 REE values across variables.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mixed or moderately evolved signatures.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Samples: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2095-226-231 I, 520-95-99 I, C1-135-144 A.</a:t>
            </a:r>
          </a:p>
          <a:p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8086082" y="4299181"/>
            <a:ext cx="38806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3 – Depleted Group (Green)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Lowest REE values in both graphs.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Smallest radar area and shortest bars.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depleted or fractionated REE patterns.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Samples: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2098 AC,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HC_Cluster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group, other low-REE samples.</a:t>
            </a:r>
          </a:p>
        </p:txBody>
      </p:sp>
    </p:spTree>
    <p:extLst>
      <p:ext uri="{BB962C8B-B14F-4D97-AF65-F5344CB8AC3E}">
        <p14:creationId xmlns:p14="http://schemas.microsoft.com/office/powerpoint/2010/main" val="2917683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9687" y="198782"/>
            <a:ext cx="69971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 of Fen</a:t>
            </a:r>
          </a:p>
          <a:p>
            <a:endParaRPr lang="en-IN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014" y="1122112"/>
            <a:ext cx="6449115" cy="29993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ounded Rectangle 4"/>
          <p:cNvSpPr/>
          <p:nvPr/>
        </p:nvSpPr>
        <p:spPr>
          <a:xfrm>
            <a:off x="510840" y="4346713"/>
            <a:ext cx="4174435" cy="66260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 1 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La, Ce, Pr, 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Y, Zr, Nb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11964" y="5234610"/>
            <a:ext cx="4174435" cy="64935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 2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Yb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Ho, Tm,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Hf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Ta, U</a:t>
            </a:r>
          </a:p>
          <a:p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7209183" y="980662"/>
            <a:ext cx="4757530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clear geochemical clusters identified: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1 – LREE-Dominant Group (Left Side)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Groups mainly LREE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behave similarly in geochemical processes.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similar mobility, enrichment, and fractionation patterns.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2 – HREE-Dominant Group (Right Side)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mostly HREE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fractionate differently from LREEs.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elements with stronger compatibility and heavier ionic character.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74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0602" y="121311"/>
            <a:ext cx="32797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Profiling of Fen</a:t>
            </a:r>
            <a:endParaRPr lang="en-IN" sz="3600" dirty="0"/>
          </a:p>
        </p:txBody>
      </p:sp>
      <p:pic>
        <p:nvPicPr>
          <p:cNvPr id="3" name="Picture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783" y="845113"/>
            <a:ext cx="6082747" cy="31108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4595" y="845113"/>
            <a:ext cx="4974196" cy="311086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130602" y="4033449"/>
            <a:ext cx="412142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1 – High Values / Enriched Group (Blue)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values across most elements.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Largest radar shape and tallest bars: strong, enriched signal.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high elemental abundance and less fractionation.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samples from an enriched or primitive source</a:t>
            </a:r>
          </a:p>
          <a:p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4079750" y="4080870"/>
            <a:ext cx="440355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2 – Low Values / Depleted Group (Orange)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Lowest values in both radar and bar plots.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 stays near center: weak, depleted signal.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low elemental abundance and strong fractionation.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samples with depleted or altered signatures.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8626" y="4129092"/>
            <a:ext cx="360459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3 – Moderate Values / Intermediate Group (Green)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Falls between Clusters 1 and 2.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intermediate signal intensity.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partially enriched / partially depleted behavior.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Suggests a mixed or moderately fractionated source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999439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2D107A-CF4B-6E5B-2868-071BE734769C}"/>
              </a:ext>
            </a:extLst>
          </p:cNvPr>
          <p:cNvSpPr txBox="1"/>
          <p:nvPr/>
        </p:nvSpPr>
        <p:spPr>
          <a:xfrm>
            <a:off x="206478" y="98323"/>
            <a:ext cx="10943303" cy="1090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tabLst>
                <a:tab pos="886460" algn="l"/>
              </a:tabLst>
            </a:pPr>
            <a:r>
              <a:rPr lang="en-IN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Heatmap and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REE Abundance Pattern Across Rock Types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>
              <a:lnSpc>
                <a:spcPct val="115000"/>
              </a:lnSpc>
              <a:spcAft>
                <a:spcPts val="800"/>
              </a:spcAft>
              <a:tabLst>
                <a:tab pos="886460" algn="l"/>
              </a:tabLst>
            </a:pPr>
            <a:r>
              <a:rPr lang="en-IN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1) Bayan Obo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2199E0-50CA-0A59-CECC-0D6F0EA95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441" y="1198390"/>
            <a:ext cx="5132436" cy="33104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36DD6E-8989-BC5B-F222-B1607C8CF3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7510" y="1188558"/>
            <a:ext cx="5624049" cy="33104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10352E-A4ED-24F0-0552-8B88B326D84C}"/>
              </a:ext>
            </a:extLst>
          </p:cNvPr>
          <p:cNvSpPr txBox="1"/>
          <p:nvPr/>
        </p:nvSpPr>
        <p:spPr>
          <a:xfrm>
            <a:off x="422633" y="4549676"/>
            <a:ext cx="536856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LREE enrichment in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Cbt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samples (especially 90/43, 90/44, 90/48).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MREEs show moderate levels following the LREE trend.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HREEs are lowest, particularly in Ft samples (90/49, 90/51).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grouping: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Cbt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high REE, CD13 Ft = moderate, 90/49 &amp; 90/51 Ft = highly depleted.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93/151 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Cbt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shows unusually low REE values compared to other carbonatites.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9BE3B0-E32C-A7A3-8791-C488A3E93184}"/>
              </a:ext>
            </a:extLst>
          </p:cNvPr>
          <p:cNvSpPr txBox="1"/>
          <p:nvPr/>
        </p:nvSpPr>
        <p:spPr>
          <a:xfrm>
            <a:off x="6096000" y="4549676"/>
            <a:ext cx="5928851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and Ce have the highest average abundances, showing strong LREE enrichment.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display high mean values and strong positive correlations with other REEs.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and Ce are the most suitable target variables for regression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due to their robustness and geochemical significance.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0065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4CDD7C-B80B-2959-A1CE-7F422674667A}"/>
              </a:ext>
            </a:extLst>
          </p:cNvPr>
          <p:cNvSpPr txBox="1"/>
          <p:nvPr/>
        </p:nvSpPr>
        <p:spPr>
          <a:xfrm>
            <a:off x="157317" y="102287"/>
            <a:ext cx="6096000" cy="613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15000"/>
              </a:lnSpc>
              <a:spcAft>
                <a:spcPts val="800"/>
              </a:spcAft>
              <a:tabLst>
                <a:tab pos="886460" algn="l"/>
              </a:tabLst>
            </a:pPr>
            <a:r>
              <a:rPr lang="en-IN" sz="3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IN" sz="3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Belaya </a:t>
            </a:r>
            <a:r>
              <a:rPr lang="en-IN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Zima</a:t>
            </a:r>
            <a:endParaRPr lang="en-IN" sz="32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EB5F05-E441-F030-CCCD-9D5A3B5108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101" y="715532"/>
            <a:ext cx="6004432" cy="349267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7AAE70-2C3F-2C87-C2BF-AB7F0503E50A}"/>
              </a:ext>
            </a:extLst>
          </p:cNvPr>
          <p:cNvSpPr txBox="1"/>
          <p:nvPr/>
        </p:nvSpPr>
        <p:spPr>
          <a:xfrm>
            <a:off x="428685" y="4473678"/>
            <a:ext cx="60044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 = enriched, blue = depleted element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2099-297-300 (AC) and 2098-679-665 (CD) are highly enriched.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2098 (AC) and C1-131-135 (A) are strongly depleted.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REEs vary strongly, while major oxides vary moderately.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860FFA-C8F5-6FED-0B72-1F786101C0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635" y="715533"/>
            <a:ext cx="5662264" cy="349267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A19140-3712-2382-F0B2-6378090E545B}"/>
              </a:ext>
            </a:extLst>
          </p:cNvPr>
          <p:cNvSpPr txBox="1"/>
          <p:nvPr/>
        </p:nvSpPr>
        <p:spPr>
          <a:xfrm>
            <a:off x="6552218" y="4345858"/>
            <a:ext cx="521109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elements are moderate;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REEs (La, Ce, Nd, Y, Yb)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highly enriched.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Sb, Cd, Bi, Tl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appear in very low amounts.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is selected for its strong variation indicating LREE enrichment, while CaO effectively distinguishes Ca-rich carbonatites from silicate-rich rocks.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397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22F4CC-67C6-1B83-B928-69A0970E0F8A}"/>
              </a:ext>
            </a:extLst>
          </p:cNvPr>
          <p:cNvSpPr txBox="1"/>
          <p:nvPr/>
        </p:nvSpPr>
        <p:spPr>
          <a:xfrm>
            <a:off x="245808" y="141615"/>
            <a:ext cx="6096000" cy="548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15000"/>
              </a:lnSpc>
              <a:spcAft>
                <a:spcPts val="800"/>
              </a:spcAft>
              <a:tabLst>
                <a:tab pos="886460" algn="l"/>
              </a:tabLst>
            </a:pPr>
            <a:r>
              <a:rPr lang="en-US" sz="28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IN" sz="28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Fen </a:t>
            </a:r>
            <a:endParaRPr lang="en-IN" sz="28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8CCA70-5F77-1FBB-371D-E94FDC2842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697" y="689714"/>
            <a:ext cx="5630606" cy="387245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3B3CCB6-6A65-0E4E-1781-0EE45C0453F7}"/>
              </a:ext>
            </a:extLst>
          </p:cNvPr>
          <p:cNvSpPr txBox="1"/>
          <p:nvPr/>
        </p:nvSpPr>
        <p:spPr>
          <a:xfrm>
            <a:off x="147761" y="4576904"/>
            <a:ext cx="61940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LREE enrichment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HREE depletion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fractionated REE pattern.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Mid-REEs (Ce–Gd)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most enriched → coherent REE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HFSE (Zr–Hf, Nb–Ta)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moderately enriched → magmatic origin, minimal alteration.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HREEs consistently low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evolved magmatic conditions.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15-92 RE and 16-104 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 highest enrichment.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215BC2-A085-C516-7A60-11AC199A7756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716753"/>
            <a:ext cx="5968181" cy="38454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325394-1EEB-DDFE-66C2-4E476DAC80D4}"/>
              </a:ext>
            </a:extLst>
          </p:cNvPr>
          <p:cNvSpPr txBox="1"/>
          <p:nvPr/>
        </p:nvSpPr>
        <p:spPr>
          <a:xfrm>
            <a:off x="6164826" y="4591641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and Ce have the highest average abundances, showing strong LREE enrichment.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display high mean values and strong positive correlations with other REEs.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and Ce are the most suitable target variables for regression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due to their robustness and geochemical significance.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54537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/>
        </p:nvSpPr>
        <p:spPr>
          <a:xfrm>
            <a:off x="675612" y="1038844"/>
            <a:ext cx="22661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Model</a:t>
            </a:r>
            <a:endParaRPr lang="en-IN" sz="2800" dirty="0"/>
          </a:p>
        </p:txBody>
      </p:sp>
      <p:sp>
        <p:nvSpPr>
          <p:cNvPr id="26" name="TextBox 25"/>
          <p:cNvSpPr txBox="1"/>
          <p:nvPr/>
        </p:nvSpPr>
        <p:spPr>
          <a:xfrm>
            <a:off x="310431" y="-22835"/>
            <a:ext cx="88922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Regression: Elastic Net For Bayan Obo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095999" y="625980"/>
            <a:ext cx="5751443" cy="1447188"/>
          </a:xfrm>
          <a:prstGeom prst="roundRect">
            <a:avLst/>
          </a:prstGeom>
          <a:solidFill>
            <a:srgbClr val="F7F6BF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(R² = 0.94)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positive: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Sm, Tb → LREE–MREE enrichment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Moderate positive: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Ce,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Lu → smooth REE pattern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Yb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mild HREE depletion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13911" y="2947903"/>
            <a:ext cx="23456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 Model</a:t>
            </a:r>
            <a:endParaRPr lang="en-IN" sz="2800" dirty="0"/>
          </a:p>
        </p:txBody>
      </p:sp>
      <p:sp>
        <p:nvSpPr>
          <p:cNvPr id="47" name="Rounded Rectangle 46"/>
          <p:cNvSpPr/>
          <p:nvPr/>
        </p:nvSpPr>
        <p:spPr>
          <a:xfrm>
            <a:off x="278295" y="2362132"/>
            <a:ext cx="6228522" cy="1597073"/>
          </a:xfrm>
          <a:prstGeom prst="roundRect">
            <a:avLst/>
          </a:prstGeom>
          <a:solidFill>
            <a:srgbClr val="F7F6BF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 (R² = 0.75)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positive: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La–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classic LREE coherence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 MREE: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Gd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smooth LREE→MREE trend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negative: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Eu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clear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Eu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anomaly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Tm, Lu → mild HREE depletion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7687" y="4930597"/>
            <a:ext cx="3816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&amp; Ce Combine </a:t>
            </a:r>
            <a:endParaRPr lang="en-IN" sz="2800" dirty="0"/>
          </a:p>
        </p:txBody>
      </p:sp>
      <p:sp>
        <p:nvSpPr>
          <p:cNvPr id="49" name="Rounded Rectangle 48"/>
          <p:cNvSpPr/>
          <p:nvPr/>
        </p:nvSpPr>
        <p:spPr>
          <a:xfrm>
            <a:off x="6135756" y="4129691"/>
            <a:ext cx="5764695" cy="1601812"/>
          </a:xfrm>
          <a:prstGeom prst="roundRect">
            <a:avLst/>
          </a:prstGeom>
          <a:solidFill>
            <a:srgbClr val="F7F6BF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&amp; Ce Together (R² = 0.71)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Both La &amp; Ce increase with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MREE–HREE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strong effects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Eu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Yb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Lu → weak fractionation control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Consistent positive coefficients across REEs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-968404" y="5901989"/>
            <a:ext cx="12405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57350" lvl="3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La, Ce, and the combined model are mainly controlled by the same REEs: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Sm,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Ho, and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Curved Connector 10"/>
          <p:cNvCxnSpPr/>
          <p:nvPr/>
        </p:nvCxnSpPr>
        <p:spPr>
          <a:xfrm flipV="1">
            <a:off x="3167269" y="1038844"/>
            <a:ext cx="1841555" cy="393464"/>
          </a:xfrm>
          <a:prstGeom prst="curvedConnector3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urved Connector 11"/>
          <p:cNvCxnSpPr/>
          <p:nvPr/>
        </p:nvCxnSpPr>
        <p:spPr>
          <a:xfrm flipV="1">
            <a:off x="3994536" y="4866861"/>
            <a:ext cx="1524000" cy="457200"/>
          </a:xfrm>
          <a:prstGeom prst="curvedConnector3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urved Connector 12"/>
          <p:cNvCxnSpPr/>
          <p:nvPr/>
        </p:nvCxnSpPr>
        <p:spPr>
          <a:xfrm rot="10800000">
            <a:off x="6722164" y="2681203"/>
            <a:ext cx="1676400" cy="533400"/>
          </a:xfrm>
          <a:prstGeom prst="curvedConnector3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76251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814391" y="798172"/>
            <a:ext cx="6009860" cy="1351722"/>
          </a:xfrm>
          <a:prstGeom prst="roundRect">
            <a:avLst/>
          </a:prstGeom>
          <a:solidFill>
            <a:srgbClr val="F7F6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R² = 0.78 → Strong predictability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 drivers: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Tb,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MgO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W, S, Total REE, Sn,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 drivers: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Be, Cr,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Y, Ni,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SiO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₂,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Rb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HREE controls: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Very weak (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only minor)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3723" y="1397365"/>
            <a:ext cx="29817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Model</a:t>
            </a:r>
            <a:endParaRPr lang="en-IN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8819321" y="2923027"/>
            <a:ext cx="36708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CaO Model</a:t>
            </a:r>
            <a:endParaRPr lang="en-IN" sz="2800" dirty="0"/>
          </a:p>
        </p:txBody>
      </p:sp>
      <p:sp>
        <p:nvSpPr>
          <p:cNvPr id="9" name="Rounded Rectangle 8"/>
          <p:cNvSpPr/>
          <p:nvPr/>
        </p:nvSpPr>
        <p:spPr>
          <a:xfrm>
            <a:off x="145771" y="2332224"/>
            <a:ext cx="6546573" cy="1497496"/>
          </a:xfrm>
          <a:prstGeom prst="roundRect">
            <a:avLst/>
          </a:prstGeom>
          <a:solidFill>
            <a:srgbClr val="F7F6BF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R² = –1.05 → Extremely poor predictability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Weak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positive drivers:</a:t>
            </a:r>
            <a:r>
              <a:rPr lang="fr-F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Cd, Gd, Ce, Ho, Yb, Ni, Tm, CO₂, La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 drivers: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Be, Cr,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Na₂O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Al₂O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₃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HREE role: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Very small (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Yb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Tm)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753" y="4924442"/>
            <a:ext cx="39280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La &amp; CaO Combine </a:t>
            </a:r>
            <a:endParaRPr lang="en-IN" sz="2800" dirty="0"/>
          </a:p>
        </p:txBody>
      </p:sp>
      <p:sp>
        <p:nvSpPr>
          <p:cNvPr id="11" name="Rounded Rectangle 10"/>
          <p:cNvSpPr/>
          <p:nvPr/>
        </p:nvSpPr>
        <p:spPr>
          <a:xfrm>
            <a:off x="4929807" y="3950408"/>
            <a:ext cx="7156176" cy="1948069"/>
          </a:xfrm>
          <a:prstGeom prst="roundRect">
            <a:avLst/>
          </a:prstGeom>
          <a:solidFill>
            <a:srgbClr val="F7F6BF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R² = 0.26 → Only weak–moderate joint predictability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 contributors: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CO₂, Cu,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Y,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Zr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Ce,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Gd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Tb,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MgO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S, Ba,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 contributors: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SiO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₂,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Al₂O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₃, Total, Be, Cr, Zn,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TiO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₂, Ni, Cd,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Th,Er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HREE: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Minimal effect in both cases (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weak; others negligible)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1789" y="99309"/>
            <a:ext cx="88922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Regression: Elastic Net For Belaya Zima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1789" y="6073433"/>
            <a:ext cx="11834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is strongly governed by LREE–MREE enrichment,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no real REE control, and combined modeling confirms that REEs systematically influence La but not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Curved Connector 13"/>
          <p:cNvCxnSpPr/>
          <p:nvPr/>
        </p:nvCxnSpPr>
        <p:spPr>
          <a:xfrm flipV="1">
            <a:off x="3088252" y="1309778"/>
            <a:ext cx="1841555" cy="393464"/>
          </a:xfrm>
          <a:prstGeom prst="curvedConnector3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/>
          <p:cNvCxnSpPr/>
          <p:nvPr/>
        </p:nvCxnSpPr>
        <p:spPr>
          <a:xfrm flipV="1">
            <a:off x="3452312" y="4924442"/>
            <a:ext cx="1444239" cy="319853"/>
          </a:xfrm>
          <a:prstGeom prst="curvedConnector3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urved Connector 16"/>
          <p:cNvCxnSpPr/>
          <p:nvPr/>
        </p:nvCxnSpPr>
        <p:spPr>
          <a:xfrm rot="10800000">
            <a:off x="6917632" y="2769359"/>
            <a:ext cx="1676400" cy="533400"/>
          </a:xfrm>
          <a:prstGeom prst="curvedConnector3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02445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1547" y="2519"/>
            <a:ext cx="8322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Regression: Elastic Net For Fen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2122" y="1424418"/>
            <a:ext cx="22926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Model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645427" y="646331"/>
            <a:ext cx="6215269" cy="1855305"/>
          </a:xfrm>
          <a:prstGeom prst="roundRect">
            <a:avLst/>
          </a:prstGeom>
          <a:solidFill>
            <a:srgbClr val="F7F6BF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La(R² = 0.885)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 (Strong → Moderate)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La/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Yb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Ta,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Hf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U, Ce,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Yb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Gd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 (Weak)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Y,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Zr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Tb,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Sm,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Eu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Tm, Lu (near-zero → negligible)</a:t>
            </a:r>
          </a:p>
          <a:p>
            <a:pPr marL="285750" indent="-285750" algn="ctr">
              <a:buFont typeface="Wingdings" panose="05000000000000000000" pitchFamily="2" charset="2"/>
              <a:buChar char="Ø"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017565" y="3147967"/>
            <a:ext cx="21070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 Model</a:t>
            </a:r>
            <a:endParaRPr lang="en-IN" sz="2800" dirty="0"/>
          </a:p>
        </p:txBody>
      </p:sp>
      <p:sp>
        <p:nvSpPr>
          <p:cNvPr id="6" name="Rounded Rectangle 5"/>
          <p:cNvSpPr/>
          <p:nvPr/>
        </p:nvSpPr>
        <p:spPr>
          <a:xfrm>
            <a:off x="344556" y="2501635"/>
            <a:ext cx="5380383" cy="1608244"/>
          </a:xfrm>
          <a:prstGeom prst="roundRect">
            <a:avLst/>
          </a:prstGeom>
          <a:solidFill>
            <a:srgbClr val="F7F6BF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Ce(R² = 0.854)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 (Strong → Moderate)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Sm,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La,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Zr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Yb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Ta,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Gd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La/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Yb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 (Moderate → Weak) 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Lu, U,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Nb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Ho, Tm,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Eu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Tb,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Hf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(mostly   near-zero)</a:t>
            </a:r>
          </a:p>
          <a:p>
            <a:pPr marL="285750" indent="-285750" algn="ctr">
              <a:buFont typeface="Wingdings" panose="05000000000000000000" pitchFamily="2" charset="2"/>
              <a:buChar char="Ø"/>
            </a:pP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291547" y="4784035"/>
            <a:ext cx="38696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&amp; Ce Combine </a:t>
            </a:r>
            <a:endParaRPr lang="en-IN" sz="2800" dirty="0"/>
          </a:p>
        </p:txBody>
      </p:sp>
      <p:sp>
        <p:nvSpPr>
          <p:cNvPr id="8" name="Rounded Rectangle 7"/>
          <p:cNvSpPr/>
          <p:nvPr/>
        </p:nvSpPr>
        <p:spPr>
          <a:xfrm>
            <a:off x="5724939" y="3974350"/>
            <a:ext cx="6056244" cy="1921565"/>
          </a:xfrm>
          <a:prstGeom prst="roundRect">
            <a:avLst/>
          </a:prstGeom>
          <a:solidFill>
            <a:srgbClr val="F7F6BF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&amp; Ce Together R² = 0.875)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 (Shared for La &amp; Ce)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Sm,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Gd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Hf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Ta,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U,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Yb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La/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Yb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 (Shared for La &amp; Ce)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Y,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Zr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Nb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Lu,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Tm (mostly small to negligible)</a:t>
            </a:r>
          </a:p>
          <a:p>
            <a:pPr algn="ctr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Curved Connector 8"/>
          <p:cNvCxnSpPr/>
          <p:nvPr/>
        </p:nvCxnSpPr>
        <p:spPr>
          <a:xfrm flipV="1">
            <a:off x="3034748" y="1377251"/>
            <a:ext cx="1841555" cy="393464"/>
          </a:xfrm>
          <a:prstGeom prst="curvedConnector3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urved Connector 9"/>
          <p:cNvCxnSpPr/>
          <p:nvPr/>
        </p:nvCxnSpPr>
        <p:spPr>
          <a:xfrm flipV="1">
            <a:off x="3790619" y="4738400"/>
            <a:ext cx="1841555" cy="393464"/>
          </a:xfrm>
          <a:prstGeom prst="curvedConnector3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0"/>
          <p:cNvCxnSpPr/>
          <p:nvPr/>
        </p:nvCxnSpPr>
        <p:spPr>
          <a:xfrm rot="10800000">
            <a:off x="5933660" y="3061018"/>
            <a:ext cx="1676400" cy="533400"/>
          </a:xfrm>
          <a:prstGeom prst="curvedConnector3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85530" y="5993009"/>
            <a:ext cx="11595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La, Ce, and the multi-task model are controlled by a common set of REEs—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Sm,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Hf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Ta,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U—indicating a smooth and coherent LREE–MREE pattern with only weak HREE influence</a:t>
            </a:r>
            <a:r>
              <a:rPr lang="en-US" b="1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7446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545F23-0EA3-2546-FABF-99DF434F89C3}"/>
              </a:ext>
            </a:extLst>
          </p:cNvPr>
          <p:cNvSpPr txBox="1"/>
          <p:nvPr/>
        </p:nvSpPr>
        <p:spPr>
          <a:xfrm>
            <a:off x="88490" y="72790"/>
            <a:ext cx="7157884" cy="613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15000"/>
              </a:lnSpc>
              <a:spcAft>
                <a:spcPts val="800"/>
              </a:spcAft>
              <a:tabLst>
                <a:tab pos="886460" algn="l"/>
              </a:tabLst>
            </a:pPr>
            <a:r>
              <a:rPr lang="en-US" sz="3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 Analysis of Variance – Bayan Obo</a:t>
            </a:r>
            <a:r>
              <a:rPr lang="en-US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	</a:t>
            </a:r>
            <a:endParaRPr lang="en-IN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4CE302-24A2-4802-29CA-2086A4DDFBC4}"/>
              </a:ext>
            </a:extLst>
          </p:cNvPr>
          <p:cNvSpPr/>
          <p:nvPr/>
        </p:nvSpPr>
        <p:spPr>
          <a:xfrm>
            <a:off x="383458" y="806245"/>
            <a:ext cx="5053781" cy="179930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Why Classical ANOVA Fails (n &lt; p Problem)</a:t>
            </a:r>
          </a:p>
          <a:p>
            <a:pPr>
              <a:buNone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Dataset: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= 14 elements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11 samples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&gt; n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Covariance matrix becomes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singular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F-statistic not valid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Variance-equality tests fail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(Levene/Bartlett)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Classical ANOVA cannot be used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A984C5-DC3C-4D1C-353B-4ED5678FACE3}"/>
              </a:ext>
            </a:extLst>
          </p:cNvPr>
          <p:cNvSpPr/>
          <p:nvPr/>
        </p:nvSpPr>
        <p:spPr>
          <a:xfrm>
            <a:off x="6454877" y="806244"/>
            <a:ext cx="5053781" cy="179930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What to Use Instead (High-Dimensional Tests)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Use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HD-ANOVA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methods designed for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&gt; n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Chen &amp; Qin (2010) test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Srivastava &amp; Fujikoshi (2006)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Regularized MANOVA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These do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require covariance inversion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94FAB99-E702-D743-BD92-D3A1EAE769BB}"/>
                  </a:ext>
                </a:extLst>
              </p:cNvPr>
              <p:cNvSpPr txBox="1"/>
              <p:nvPr/>
            </p:nvSpPr>
            <p:spPr>
              <a:xfrm>
                <a:off x="383458" y="2809087"/>
                <a:ext cx="6120580" cy="21885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High-Dimensional Hotelling Test (HD-T²)</a:t>
                </a:r>
              </a:p>
              <a:p>
                <a:pPr>
                  <a:buNone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Classical Hotelling T² fails when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 &gt; n</a:t>
                </a:r>
                <a:b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HD-T² works with: singular covariance, multicollinearity, noisy geochemical data</a:t>
                </a:r>
                <a:b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Uses diagonal covariance:</a:t>
                </a:r>
                <a:b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 = </a:t>
                </a:r>
                <a:r>
                  <a:rPr lang="en-I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diag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(s₁², s₂², …, sₚ²) (always invertible)</a:t>
                </a:r>
                <a:b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Test statistic: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1800" i="1" kern="10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𝑆𝐷</m:t>
                        </m:r>
                      </m:sub>
                      <m:sup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ˉ"/>
                            <m:ctrlP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ˉ"/>
                            <m:ctrlP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ˉ"/>
                            <m:ctrlP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ˉ"/>
                            <m:ctrlP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IN" sz="1800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94FAB99-E702-D743-BD92-D3A1EAE769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458" y="2809087"/>
                <a:ext cx="6120580" cy="2188548"/>
              </a:xfrm>
              <a:prstGeom prst="rect">
                <a:avLst/>
              </a:prstGeom>
              <a:blipFill>
                <a:blip r:embed="rId2"/>
                <a:stretch>
                  <a:fillRect l="-1096" t="-16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rrow: Right 9">
            <a:extLst>
              <a:ext uri="{FF2B5EF4-FFF2-40B4-BE49-F238E27FC236}">
                <a16:creationId xmlns:a16="http://schemas.microsoft.com/office/drawing/2014/main" id="{323CD488-FEEA-7900-BD0D-42F7D596844E}"/>
              </a:ext>
            </a:extLst>
          </p:cNvPr>
          <p:cNvSpPr/>
          <p:nvPr/>
        </p:nvSpPr>
        <p:spPr>
          <a:xfrm>
            <a:off x="5633884" y="1524000"/>
            <a:ext cx="678426" cy="422787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8715D6-1F16-2D9F-107C-0A7C48135FE0}"/>
              </a:ext>
            </a:extLst>
          </p:cNvPr>
          <p:cNvSpPr/>
          <p:nvPr/>
        </p:nvSpPr>
        <p:spPr>
          <a:xfrm>
            <a:off x="6454877" y="2983603"/>
            <a:ext cx="4930877" cy="153383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T²_HD statistic : 154.7965925048067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F_HD statistic  : 11.056899464629051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df1 = 14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df2 = 12.786044254805576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p-value = 5.667306909884484e-05 (0.0000567)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AC533B-9C0D-1AED-0CBB-A5624C558CA9}"/>
              </a:ext>
            </a:extLst>
          </p:cNvPr>
          <p:cNvSpPr txBox="1"/>
          <p:nvPr/>
        </p:nvSpPr>
        <p:spPr>
          <a:xfrm>
            <a:off x="6312310" y="4691951"/>
            <a:ext cx="572974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 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p-value = 5.67×10⁻⁵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Cbt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Ft have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significantly different     REE compositions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Less than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0.006% chance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they come from the same REE population.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82E645-3238-833F-1813-BF02F554B8F5}"/>
              </a:ext>
            </a:extLst>
          </p:cNvPr>
          <p:cNvSpPr txBox="1"/>
          <p:nvPr/>
        </p:nvSpPr>
        <p:spPr>
          <a:xfrm>
            <a:off x="383458" y="5121271"/>
            <a:ext cx="525042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H₀: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Carbonatites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Cbt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Fenites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(Ft) have the same mean REE composition.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H₁: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Carbonatites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Fenites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different REE compositions.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52461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6EBA942-A457-6F3A-E13B-605426639C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28" y="441634"/>
            <a:ext cx="4273201" cy="32316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A277AF9-18AF-A7A8-076B-DFFEAFAF9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9748" y="3515139"/>
            <a:ext cx="4888334" cy="31016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26984F-5ACA-8ADD-4683-3940FE8AE139}"/>
              </a:ext>
            </a:extLst>
          </p:cNvPr>
          <p:cNvSpPr txBox="1"/>
          <p:nvPr/>
        </p:nvSpPr>
        <p:spPr>
          <a:xfrm>
            <a:off x="5338916" y="441634"/>
            <a:ext cx="661711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REE Pattern Interpretation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Carbonatites (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Cbt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LREE enrichment and very low HREE → signature of REE-rich mantle melts.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Fenites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(Ft):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Lower, variable REE levels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metasomatic modification by carbonatite-derived fluids.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Fenites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not diluted carbonatites; they represent a different geochemical process.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Implication: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a two-stage REE evolution at Bayan Obo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Carbonatitic LREE enrichment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Fenite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metasomatic overprint.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43443" y="3910818"/>
            <a:ext cx="6269899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Belaya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zima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set contains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REEs, oxides, and trace elements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makes it high-dimensional.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ANOVA is designed to test one variable at a time, but: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have too many highly correlated variables (La, Ce,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Sm,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many trace elements, many oxides).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dimensionality creates strong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multicollinearity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among REEs.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ANOVA cannot handle multiple inter-dependent chemical variables at once.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514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077B6D-DD6B-5421-18B4-B385BA8EE606}"/>
              </a:ext>
            </a:extLst>
          </p:cNvPr>
          <p:cNvSpPr txBox="1"/>
          <p:nvPr/>
        </p:nvSpPr>
        <p:spPr>
          <a:xfrm>
            <a:off x="88489" y="90637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 Analysis of Variance – </a:t>
            </a:r>
            <a:r>
              <a:rPr lang="en-US" sz="3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Fen</a:t>
            </a:r>
            <a:endParaRPr lang="en-IN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D96043-BEC5-F09E-30AC-03C5BD10F993}"/>
              </a:ext>
            </a:extLst>
          </p:cNvPr>
          <p:cNvSpPr txBox="1"/>
          <p:nvPr/>
        </p:nvSpPr>
        <p:spPr>
          <a:xfrm>
            <a:off x="346587" y="1480402"/>
            <a:ext cx="65679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Hypothesis: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H₀: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group means are equal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H₁: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least one group mean is different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EA6020-181C-2342-7773-C79459004CDB}"/>
              </a:ext>
            </a:extLst>
          </p:cNvPr>
          <p:cNvSpPr txBox="1"/>
          <p:nvPr/>
        </p:nvSpPr>
        <p:spPr>
          <a:xfrm>
            <a:off x="346587" y="4054160"/>
            <a:ext cx="669576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p-value ≈ 0.0000, which is less than the typical significance level α = 0.05.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Reject the null hypothesis (H₀).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There is a statistically significant difference between the means of at least some of the groups in your dataset.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20307A-4FE4-9C9A-5F7D-BEC73EBDDDB9}"/>
              </a:ext>
            </a:extLst>
          </p:cNvPr>
          <p:cNvSpPr/>
          <p:nvPr/>
        </p:nvSpPr>
        <p:spPr>
          <a:xfrm>
            <a:off x="346587" y="2676250"/>
            <a:ext cx="6125498" cy="11415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/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F-statistic = 2.8923</a:t>
            </a:r>
          </a:p>
          <a:p>
            <a:pPr latinLnBrk="1"/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P-value = 0.0000</a:t>
            </a:r>
          </a:p>
          <a:p>
            <a:pPr latinLnBrk="1"/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Result: Significant difference between groups (reject H0)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20EA7E-4BDC-9465-9509-2763BDB7A949}"/>
              </a:ext>
            </a:extLst>
          </p:cNvPr>
          <p:cNvSpPr txBox="1"/>
          <p:nvPr/>
        </p:nvSpPr>
        <p:spPr>
          <a:xfrm>
            <a:off x="346587" y="730347"/>
            <a:ext cx="1081302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test whether REE (or element) concentrations differ between rock groups (</a:t>
            </a:r>
            <a:r>
              <a:rPr lang="en-IN" sz="20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Carbonatite (C), Transitional Carbonatite (TWC), </a:t>
            </a:r>
            <a:r>
              <a:rPr lang="en-IN" sz="20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Rødbergite</a:t>
            </a:r>
            <a:r>
              <a:rPr lang="en-IN" sz="20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(R), Transitional </a:t>
            </a:r>
            <a:r>
              <a:rPr lang="en-IN" sz="20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Rødbergite</a:t>
            </a:r>
            <a:r>
              <a:rPr lang="en-IN" sz="20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(TRE)) </a:t>
            </a:r>
            <a:endParaRPr lang="en-IN" sz="2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AutoShape 5" descr="The Maiden Mineral Resource Estimate shows that the Fen Carbonatite Complex (“FCC”) hosts the largest REE deposit in continental Europe evaluated to date. Photo: Peggy Greb, US department of agriculture/Wikimedia Commons">
            <a:extLst>
              <a:ext uri="{FF2B5EF4-FFF2-40B4-BE49-F238E27FC236}">
                <a16:creationId xmlns:a16="http://schemas.microsoft.com/office/drawing/2014/main" id="{69C054B6-CA6A-B0EF-C241-85595A593C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D590D31-6CB5-98B1-BDC2-ED4B17DFA5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3726426"/>
            <a:ext cx="5334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8060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9FB799-1591-3B7F-5846-EDA17409CC43}"/>
              </a:ext>
            </a:extLst>
          </p:cNvPr>
          <p:cNvSpPr txBox="1"/>
          <p:nvPr/>
        </p:nvSpPr>
        <p:spPr>
          <a:xfrm>
            <a:off x="245808" y="147484"/>
            <a:ext cx="59878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1DF586-D0AD-453D-7B14-18BD5F06F929}"/>
              </a:ext>
            </a:extLst>
          </p:cNvPr>
          <p:cNvSpPr txBox="1"/>
          <p:nvPr/>
        </p:nvSpPr>
        <p:spPr>
          <a:xfrm>
            <a:off x="324462" y="793815"/>
            <a:ext cx="11621730" cy="5876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1)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Bayan Obo shows the clearest geochemical separation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, with carbonatites and 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fenites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forming fully distinct REE populations, confirming a two-stage magmatic–hydrothermal evolution.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2)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Belaya Zima is the most heterogeneous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, with extreme variability and the strongest skewness/kurtosis, reflecting multiple carbonatite types and complex enrichment mechanisms.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3)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Fen shows the most coherent magmatic signature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, with smooth LREE enrichment, predictable REE patterns, and strong multivariate regression performance.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4)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Across all three regions, 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La and Ce emerge as the most reliable REE indicators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, supported by clustering, heatmaps, and Elastic Net 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modeling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5)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LREE–MREE control dominates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, while HREEs show weak and inconsistent contributions,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indicating widespread low-pressure melting, amphibole involvement, and limited garnet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retention.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6)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Each region shows distinct enrichment mechanisms: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Bayan Obo: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Magmatic + metasomatic overprint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Belaya Zima: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Strongly heterogeneous multi-phase magmatism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Fen: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Coherent magmatic enrichment with mild fractionation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AC7ACB-48A9-815B-F421-8DF91978E4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3233" y="3537156"/>
            <a:ext cx="2958767" cy="3241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833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8CAF9C-B2A7-AFE0-621B-9A7B1A89F56C}"/>
              </a:ext>
            </a:extLst>
          </p:cNvPr>
          <p:cNvSpPr txBox="1"/>
          <p:nvPr/>
        </p:nvSpPr>
        <p:spPr>
          <a:xfrm>
            <a:off x="3048000" y="15530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Importance</a:t>
            </a:r>
            <a:r>
              <a:rPr lang="en-US" sz="3200" b="1" spc="-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en-US" sz="3200" b="1" spc="-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Green</a:t>
            </a:r>
            <a:r>
              <a:rPr lang="en-US" sz="3200" b="1" spc="-1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Technology</a:t>
            </a:r>
            <a:r>
              <a:rPr lang="en-US" sz="3200" b="1" spc="-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IN" sz="3200" b="1" dirty="0"/>
          </a:p>
        </p:txBody>
      </p:sp>
      <p:pic>
        <p:nvPicPr>
          <p:cNvPr id="4" name="Image 40">
            <a:extLst>
              <a:ext uri="{FF2B5EF4-FFF2-40B4-BE49-F238E27FC236}">
                <a16:creationId xmlns:a16="http://schemas.microsoft.com/office/drawing/2014/main" id="{7EBC617E-2324-5152-EC22-04F08FD5D617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41415" y="5561672"/>
            <a:ext cx="1429467" cy="1187236"/>
          </a:xfrm>
          <a:prstGeom prst="rect">
            <a:avLst/>
          </a:prstGeom>
        </p:spPr>
      </p:pic>
      <p:pic>
        <p:nvPicPr>
          <p:cNvPr id="5" name="Image 41">
            <a:extLst>
              <a:ext uri="{FF2B5EF4-FFF2-40B4-BE49-F238E27FC236}">
                <a16:creationId xmlns:a16="http://schemas.microsoft.com/office/drawing/2014/main" id="{0968CA71-93BB-E174-2417-0FA07FB13F41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82738" y="5577996"/>
            <a:ext cx="1356504" cy="1187236"/>
          </a:xfrm>
          <a:prstGeom prst="rect">
            <a:avLst/>
          </a:prstGeom>
        </p:spPr>
      </p:pic>
      <p:pic>
        <p:nvPicPr>
          <p:cNvPr id="6" name="Image 42">
            <a:extLst>
              <a:ext uri="{FF2B5EF4-FFF2-40B4-BE49-F238E27FC236}">
                <a16:creationId xmlns:a16="http://schemas.microsoft.com/office/drawing/2014/main" id="{206FB698-7596-4AED-B10C-97C45DB5A0A2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534737" y="5558129"/>
            <a:ext cx="1356503" cy="1187236"/>
          </a:xfrm>
          <a:prstGeom prst="rect">
            <a:avLst/>
          </a:prstGeom>
        </p:spPr>
      </p:pic>
      <p:pic>
        <p:nvPicPr>
          <p:cNvPr id="7" name="Image 43">
            <a:extLst>
              <a:ext uri="{FF2B5EF4-FFF2-40B4-BE49-F238E27FC236}">
                <a16:creationId xmlns:a16="http://schemas.microsoft.com/office/drawing/2014/main" id="{5808C623-A4BE-B805-86A2-034E931BC984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803096" y="5558129"/>
            <a:ext cx="1516865" cy="1187236"/>
          </a:xfrm>
          <a:prstGeom prst="rect">
            <a:avLst/>
          </a:prstGeom>
        </p:spPr>
      </p:pic>
      <p:pic>
        <p:nvPicPr>
          <p:cNvPr id="8" name="Image 44">
            <a:extLst>
              <a:ext uri="{FF2B5EF4-FFF2-40B4-BE49-F238E27FC236}">
                <a16:creationId xmlns:a16="http://schemas.microsoft.com/office/drawing/2014/main" id="{EC5DA573-DEED-7726-8E43-B5917D6D6566}"/>
              </a:ext>
            </a:extLst>
          </p:cNvPr>
          <p:cNvPicPr>
            <a:picLocks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0038735" y="5505723"/>
            <a:ext cx="1340530" cy="118723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7EE1EF2-C034-0D63-B5CF-EB3A8758A44D}"/>
              </a:ext>
            </a:extLst>
          </p:cNvPr>
          <p:cNvSpPr txBox="1"/>
          <p:nvPr/>
        </p:nvSpPr>
        <p:spPr>
          <a:xfrm>
            <a:off x="670265" y="1133815"/>
            <a:ext cx="6096000" cy="4196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spcBef>
                <a:spcPts val="1155"/>
              </a:spcBef>
              <a:buSzPts val="1000"/>
              <a:buFont typeface="Wingdings" panose="05000000000000000000" pitchFamily="2" charset="2"/>
              <a:buChar char="Ø"/>
              <a:tabLst>
                <a:tab pos="342265" algn="l"/>
              </a:tabLst>
            </a:pPr>
            <a:r>
              <a:rPr lang="en-US" sz="2400" b="1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La</a:t>
            </a:r>
            <a:r>
              <a:rPr lang="en-US" sz="2400" b="1" spc="-1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400" b="1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&amp;</a:t>
            </a:r>
            <a:r>
              <a:rPr lang="en-US" sz="2400" b="1" spc="-1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400" b="1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Ce:</a:t>
            </a:r>
            <a:r>
              <a:rPr lang="en-US" sz="2400" b="1" spc="-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Electric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vehicle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(EV)</a:t>
            </a:r>
            <a:r>
              <a:rPr lang="en-US" sz="2400" spc="-1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batteries, polishing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powders, 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catalysts.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1155"/>
              </a:spcBef>
              <a:buSzPts val="1000"/>
              <a:buFont typeface="Wingdings" panose="05000000000000000000" pitchFamily="2" charset="2"/>
              <a:buChar char="Ø"/>
              <a:tabLst>
                <a:tab pos="342265" algn="l"/>
              </a:tabLst>
            </a:pPr>
            <a:r>
              <a:rPr lang="en-US" sz="2400" b="1" spc="0" dirty="0" err="1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Pr</a:t>
            </a:r>
            <a:r>
              <a:rPr lang="en-US" sz="2400" b="1" spc="-2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400" b="1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&amp;</a:t>
            </a:r>
            <a:r>
              <a:rPr lang="en-US" sz="2400" b="1" spc="-1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400" b="1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Nd:</a:t>
            </a:r>
            <a:r>
              <a:rPr lang="en-US" sz="2400" b="1" spc="-1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High-strength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Nd–</a:t>
            </a:r>
            <a:r>
              <a:rPr lang="en-US" sz="2400" spc="0" dirty="0" err="1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Pr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magnets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for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wind</a:t>
            </a:r>
            <a:r>
              <a:rPr lang="en-US" sz="2400" spc="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turbines,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EV</a:t>
            </a:r>
            <a:r>
              <a:rPr lang="en-US" sz="2400" spc="-3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motors.</a:t>
            </a:r>
            <a:endParaRPr lang="en-IN" sz="2000" spc="0" dirty="0">
              <a:effectLst/>
              <a:latin typeface="Times New Roman" panose="02020603050405020304" pitchFamily="18" charset="0"/>
              <a:ea typeface="Symbol" panose="05050102010706020507" pitchFamily="18" charset="2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1025"/>
              </a:spcBef>
              <a:buSzPts val="1000"/>
              <a:buFont typeface="Wingdings" panose="05000000000000000000" pitchFamily="2" charset="2"/>
              <a:buChar char="Ø"/>
              <a:tabLst>
                <a:tab pos="342265" algn="l"/>
              </a:tabLst>
            </a:pPr>
            <a:r>
              <a:rPr lang="en-US" sz="2400" b="1" spc="0" dirty="0" err="1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Sm</a:t>
            </a:r>
            <a:r>
              <a:rPr lang="en-US" sz="2400" b="1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:</a:t>
            </a:r>
            <a:r>
              <a:rPr lang="en-US" sz="2400" b="1" spc="-1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400" spc="0" dirty="0" err="1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Sm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–Co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permanent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magnets</a:t>
            </a:r>
            <a:r>
              <a:rPr lang="en-US" sz="2400" spc="-1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(high</a:t>
            </a:r>
            <a:r>
              <a:rPr lang="en-US" sz="2400" spc="-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temperature</a:t>
            </a:r>
            <a:r>
              <a:rPr lang="en-US" sz="2400" spc="-1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stability).</a:t>
            </a:r>
            <a:endParaRPr lang="en-IN" sz="2000" spc="0" dirty="0">
              <a:effectLst/>
              <a:latin typeface="Times New Roman" panose="02020603050405020304" pitchFamily="18" charset="0"/>
              <a:ea typeface="Symbol" panose="05050102010706020507" pitchFamily="18" charset="2"/>
              <a:cs typeface="Times New Roman" panose="02020603050405020304" pitchFamily="18" charset="0"/>
            </a:endParaRPr>
          </a:p>
          <a:p>
            <a:pPr marL="342900" marR="360045" lvl="0" indent="-342900">
              <a:spcBef>
                <a:spcPts val="1020"/>
              </a:spcBef>
              <a:buSzPts val="1000"/>
              <a:buFont typeface="Wingdings" panose="05000000000000000000" pitchFamily="2" charset="2"/>
              <a:buChar char="Ø"/>
              <a:tabLst>
                <a:tab pos="342265" algn="l"/>
              </a:tabLst>
            </a:pPr>
            <a:r>
              <a:rPr lang="en-US" sz="2400" b="1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Dy,</a:t>
            </a:r>
            <a:r>
              <a:rPr lang="en-US" sz="2400" b="1" spc="-7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400" b="1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Tb,</a:t>
            </a:r>
            <a:r>
              <a:rPr lang="en-US" sz="2400" b="1" spc="-4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400" b="1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Ho,</a:t>
            </a:r>
            <a:r>
              <a:rPr lang="en-US" sz="2400" b="1" spc="-4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400" b="1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Er,</a:t>
            </a:r>
            <a:r>
              <a:rPr lang="en-US" sz="2400" b="1" spc="-6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400" b="1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Tm,</a:t>
            </a:r>
            <a:r>
              <a:rPr lang="en-US" sz="2400" b="1" spc="-4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400" b="1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Lu,</a:t>
            </a:r>
            <a:r>
              <a:rPr lang="en-US" sz="2400" b="1" spc="-7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400" b="1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Y:</a:t>
            </a:r>
            <a:r>
              <a:rPr lang="en-US" sz="2400" b="1" spc="-3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Critical</a:t>
            </a:r>
            <a:r>
              <a:rPr lang="en-US" sz="2400" spc="-4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for</a:t>
            </a:r>
            <a:r>
              <a:rPr lang="en-US" sz="2400" spc="-4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high-performance</a:t>
            </a:r>
            <a:r>
              <a:rPr lang="en-US" sz="2400" spc="-4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magnets,</a:t>
            </a:r>
            <a:r>
              <a:rPr lang="en-US" sz="2400" spc="-4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lasers,</a:t>
            </a:r>
            <a:r>
              <a:rPr lang="en-US" sz="2400" spc="-3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phosphors,</a:t>
            </a:r>
            <a:r>
              <a:rPr lang="en-US" sz="2400" spc="-4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 </a:t>
            </a:r>
            <a:r>
              <a:rPr lang="en-US" sz="2400" spc="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Times New Roman" panose="02020603050405020304" pitchFamily="18" charset="0"/>
              </a:rPr>
              <a:t>fiber optics, and hydrogen storage.</a:t>
            </a:r>
            <a:endParaRPr lang="en-IN" sz="2000" spc="0" dirty="0">
              <a:effectLst/>
              <a:latin typeface="Times New Roman" panose="02020603050405020304" pitchFamily="18" charset="0"/>
              <a:ea typeface="Symbol" panose="05050102010706020507" pitchFamily="18" charset="2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395B3D7-0E1E-1267-7F27-B9E080F172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8781" y="856574"/>
            <a:ext cx="5258587" cy="4473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9306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50E6DA-4587-60C7-694B-462F4563F53E}"/>
              </a:ext>
            </a:extLst>
          </p:cNvPr>
          <p:cNvSpPr txBox="1"/>
          <p:nvPr/>
        </p:nvSpPr>
        <p:spPr>
          <a:xfrm>
            <a:off x="884902" y="344614"/>
            <a:ext cx="6096000" cy="689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15000"/>
              </a:lnSpc>
              <a:spcAft>
                <a:spcPts val="800"/>
              </a:spcAft>
              <a:buClr>
                <a:srgbClr val="000000"/>
              </a:buClr>
              <a:buSzPts val="1600"/>
            </a:pPr>
            <a:r>
              <a:rPr lang="en-IN" sz="3600" b="1" kern="1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References</a:t>
            </a:r>
            <a:endParaRPr lang="en-IN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43EF16-8E8D-1D50-2341-DBAB880EDECF}"/>
              </a:ext>
            </a:extLst>
          </p:cNvPr>
          <p:cNvSpPr txBox="1"/>
          <p:nvPr/>
        </p:nvSpPr>
        <p:spPr>
          <a:xfrm>
            <a:off x="4748980" y="344614"/>
            <a:ext cx="7334865" cy="6513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IN" sz="1600" kern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Articles: 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marR="0" lvl="0" indent="-342900">
              <a:lnSpc>
                <a:spcPct val="115000"/>
              </a:lnSpc>
              <a:buFont typeface="Yu Gothic UI Semilight" panose="020B0400000000000000" pitchFamily="34" charset="-128"/>
              <a:buChar char="•"/>
            </a:pPr>
            <a:r>
              <a:rPr lang="en-IN" sz="1600" kern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“A Geochemical Study of an REE-rich Carbonatite Dyke at Bayan Obo, Inner Mongolia, Northern China.” (YANG Xueming1, ZHENG Yongfei1, YANG Xiaoyong1, ZHANG Peishan2 and M.J. LE BAS3)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marR="0" lvl="0" indent="-342900">
              <a:lnSpc>
                <a:spcPct val="115000"/>
              </a:lnSpc>
              <a:buFont typeface="Yu Gothic UI Semilight" panose="020B0400000000000000" pitchFamily="34" charset="-128"/>
              <a:buChar char="•"/>
            </a:pPr>
            <a:r>
              <a:rPr lang="en-IN" sz="1600" kern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“Trace-element composition of minerals and rocks in the Belaya Zima carbonatite complex (Russia): Implications for the mechanisms of magma evolution and carbonatite formation.” Anna G. </a:t>
            </a:r>
            <a:r>
              <a:rPr lang="en-IN" sz="1600" kern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Doroshkevich</a:t>
            </a:r>
            <a:r>
              <a:rPr lang="en-IN" sz="1600" kern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, Ilya V. Veksler, Reiner </a:t>
            </a:r>
            <a:r>
              <a:rPr lang="en-IN" sz="1600" kern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Klemd</a:t>
            </a:r>
            <a:r>
              <a:rPr lang="en-IN" sz="1600" kern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 , Elena A. </a:t>
            </a:r>
            <a:r>
              <a:rPr lang="en-IN" sz="1600" kern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Khromova</a:t>
            </a:r>
            <a:r>
              <a:rPr lang="en-IN" sz="1600" kern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, Ivan A. </a:t>
            </a:r>
            <a:r>
              <a:rPr lang="en-IN" sz="1600" kern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Izbrodin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marR="0" lvl="0" indent="-342900">
              <a:lnSpc>
                <a:spcPct val="115000"/>
              </a:lnSpc>
              <a:buFont typeface="Yu Gothic UI Semilight" panose="020B0400000000000000" pitchFamily="34" charset="-128"/>
              <a:buChar char="•"/>
            </a:pPr>
            <a:r>
              <a:rPr lang="en-IN" sz="1600" kern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“The hydrothermal alteration of carbonatite in the Fen Complex, Norway: mineralogy, geochemistry, and implications for rare-earth element resource formation” by C. Marien, A. H. Dijkstra, and C. Wilkins, School of Geography, Earth and Environmental Sciences, Plymouth University, UK.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AutoNum type="arabicPeriod" startAt="2"/>
            </a:pPr>
            <a:r>
              <a:rPr lang="en-IN" sz="1600" kern="1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Applied Multivariate Statistical Analysis Book by Dean W. Wichern, Richard A. Johnson.</a:t>
            </a:r>
            <a:endParaRPr lang="en-IN" kern="100" dirty="0"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AutoNum type="arabicPeriod" startAt="2"/>
            </a:pPr>
            <a:r>
              <a:rPr lang="en-IN" sz="1600" u="sng" kern="1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  <a:hlinkClick r:id="rId2"/>
              </a:rPr>
              <a:t>https://www.lindianresources.com.au/kangankunde-rare-earths</a:t>
            </a:r>
            <a:endParaRPr lang="en-IN" kern="100" dirty="0"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AutoNum type="arabicPeriod" startAt="2"/>
            </a:pPr>
            <a:r>
              <a:rPr lang="en-IN" sz="1600" u="sng" kern="1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  <a:hlinkClick r:id="rId3"/>
              </a:rPr>
              <a:t>https://www.mining-technology.com/projects/kangankunde-rare-earths-project-malawi/</a:t>
            </a:r>
            <a:endParaRPr lang="en-IN" kern="100" dirty="0"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AutoNum type="arabicPeriod" startAt="2"/>
            </a:pPr>
            <a:r>
              <a:rPr lang="en-IN" sz="1600" u="sng" kern="10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  <a:hlinkClick r:id="rId4"/>
              </a:rPr>
              <a:t>https://en.wikipedia.org/wiki/Geology_of_Malawi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 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A2D3B5-D0E5-C4E0-904D-FE06150416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97"/>
          <a:stretch>
            <a:fillRect/>
          </a:stretch>
        </p:blipFill>
        <p:spPr>
          <a:xfrm>
            <a:off x="0" y="1436076"/>
            <a:ext cx="4748980" cy="507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0394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28768DF-A1DF-F0EC-FF4C-F31E91C819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619" y="0"/>
            <a:ext cx="109531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251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482</TotalTime>
  <Words>4120</Words>
  <Application>Microsoft Office PowerPoint</Application>
  <PresentationFormat>Widescreen</PresentationFormat>
  <Paragraphs>411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Yu Gothic UI Semilight</vt:lpstr>
      <vt:lpstr>Arial</vt:lpstr>
      <vt:lpstr>Calibri</vt:lpstr>
      <vt:lpstr>Calibri Light</vt:lpstr>
      <vt:lpstr>Cambria Math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kiran sanap</dc:creator>
  <cp:lastModifiedBy>kiran sanap</cp:lastModifiedBy>
  <cp:revision>11</cp:revision>
  <dcterms:created xsi:type="dcterms:W3CDTF">2025-12-02T10:43:28Z</dcterms:created>
  <dcterms:modified xsi:type="dcterms:W3CDTF">2025-12-26T15:31:27Z</dcterms:modified>
</cp:coreProperties>
</file>